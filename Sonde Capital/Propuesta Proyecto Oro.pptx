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0"/>
  </p:notesMasterIdLst>
  <p:handoutMasterIdLst>
    <p:handoutMasterId r:id="rId11"/>
  </p:handoutMasterIdLst>
  <p:sldIdLst>
    <p:sldId id="289" r:id="rId5"/>
    <p:sldId id="297" r:id="rId6"/>
    <p:sldId id="305" r:id="rId7"/>
    <p:sldId id="304" r:id="rId8"/>
    <p:sldId id="274" r:id="rId9"/>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13"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101"/>
    <a:srgbClr val="FF9900"/>
    <a:srgbClr val="E6E6E6"/>
    <a:srgbClr val="CC9900"/>
    <a:srgbClr val="073478"/>
    <a:srgbClr val="000099"/>
    <a:srgbClr val="003E34"/>
    <a:srgbClr val="F0CDA1"/>
    <a:srgbClr val="107082"/>
    <a:srgbClr val="0090A2"/>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70"/>
  </p:normalViewPr>
  <p:slideViewPr>
    <p:cSldViewPr snapToGrid="0">
      <p:cViewPr varScale="1">
        <p:scale>
          <a:sx n="113" d="100"/>
          <a:sy n="113" d="100"/>
        </p:scale>
        <p:origin x="510" y="90"/>
      </p:cViewPr>
      <p:guideLst>
        <p:guide pos="3840"/>
        <p:guide orient="horz" pos="2160"/>
      </p:guideLst>
    </p:cSldViewPr>
  </p:slideViewPr>
  <p:notesTextViewPr>
    <p:cViewPr>
      <p:scale>
        <a:sx n="1" d="1"/>
        <a:sy n="1" d="1"/>
      </p:scale>
      <p:origin x="0" y="0"/>
    </p:cViewPr>
  </p:notesTextViewPr>
  <p:notesViewPr>
    <p:cSldViewPr snapToGrid="0">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B3D6640C-F6A0-4351-856B-14836F234E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fecha 2">
            <a:extLst>
              <a:ext uri="{FF2B5EF4-FFF2-40B4-BE49-F238E27FC236}">
                <a16:creationId xmlns:a16="http://schemas.microsoft.com/office/drawing/2014/main" id="{FC280B7B-2795-4857-B84E-9C600536AE0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18EB8BBB-53FA-476C-A309-D2686EA80C4C}" type="datetime1">
              <a:rPr lang="es-ES" smtClean="0"/>
              <a:t>26/05/2025</a:t>
            </a:fld>
            <a:endParaRPr lang="es-ES" dirty="0"/>
          </a:p>
        </p:txBody>
      </p:sp>
      <p:sp>
        <p:nvSpPr>
          <p:cNvPr id="4" name="Marcador de pie de página 3">
            <a:extLst>
              <a:ext uri="{FF2B5EF4-FFF2-40B4-BE49-F238E27FC236}">
                <a16:creationId xmlns:a16="http://schemas.microsoft.com/office/drawing/2014/main" id="{96C3ACD6-6E00-4BE1-A684-34A6BD202E3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posición de número de diapositiva 4">
            <a:extLst>
              <a:ext uri="{FF2B5EF4-FFF2-40B4-BE49-F238E27FC236}">
                <a16:creationId xmlns:a16="http://schemas.microsoft.com/office/drawing/2014/main" id="{BA7F20A5-CEF2-4B11-A0A4-0F4BC0BD647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C822411-A9A9-4A09-A341-69C657AB42A1}" type="slidenum">
              <a:rPr lang="es-ES" smtClean="0"/>
              <a:t>‹Nº›</a:t>
            </a:fld>
            <a:endParaRPr lang="es-ES" dirty="0"/>
          </a:p>
        </p:txBody>
      </p:sp>
    </p:spTree>
    <p:extLst>
      <p:ext uri="{BB962C8B-B14F-4D97-AF65-F5344CB8AC3E}">
        <p14:creationId xmlns:p14="http://schemas.microsoft.com/office/powerpoint/2010/main" val="6558888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8D056B-5EC6-42CD-AF94-4751959146DD}" type="datetime1">
              <a:rPr lang="es-ES" smtClean="0"/>
              <a:pPr/>
              <a:t>26/05/2025</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dirty="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Haga clic para modificar los estilos de texto del patrón</a:t>
            </a:r>
            <a:endParaRPr lang="es-ES" dirty="0"/>
          </a:p>
          <a:p>
            <a:pPr lvl="1" rtl="0"/>
            <a:r>
              <a:rPr lang="es-ES" dirty="0"/>
              <a:t>Segundo nivel</a:t>
            </a:r>
          </a:p>
          <a:p>
            <a:pPr lvl="2" rtl="0"/>
            <a:r>
              <a:rPr lang="es-ES" dirty="0"/>
              <a:t>Tercer nivel</a:t>
            </a:r>
          </a:p>
          <a:p>
            <a:pPr lvl="3" rtl="0"/>
            <a:r>
              <a:rPr lang="es-ES" dirty="0"/>
              <a:t>Cuarto nivel</a:t>
            </a:r>
          </a:p>
          <a:p>
            <a:pPr lvl="4" rtl="0"/>
            <a:r>
              <a:rPr lang="es-ES" dirty="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A004F4-F240-48F9-8AE1-486585C7F00D}" type="slidenum">
              <a:rPr lang="es-ES" smtClean="0"/>
              <a:t>‹Nº›</a:t>
            </a:fld>
            <a:endParaRPr lang="es-ES" dirty="0"/>
          </a:p>
        </p:txBody>
      </p:sp>
    </p:spTree>
    <p:extLst>
      <p:ext uri="{BB962C8B-B14F-4D97-AF65-F5344CB8AC3E}">
        <p14:creationId xmlns:p14="http://schemas.microsoft.com/office/powerpoint/2010/main" val="2154881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9CA004F4-F240-48F9-8AE1-486585C7F00D}" type="slidenum">
              <a:rPr lang="es-ES" smtClean="0"/>
              <a:t>1</a:t>
            </a:fld>
            <a:endParaRPr lang="es-ES" dirty="0"/>
          </a:p>
        </p:txBody>
      </p:sp>
    </p:spTree>
    <p:extLst>
      <p:ext uri="{BB962C8B-B14F-4D97-AF65-F5344CB8AC3E}">
        <p14:creationId xmlns:p14="http://schemas.microsoft.com/office/powerpoint/2010/main" val="3140170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9CA004F4-F240-48F9-8AE1-486585C7F00D}" type="slidenum">
              <a:rPr lang="es-ES" smtClean="0"/>
              <a:t>2</a:t>
            </a:fld>
            <a:endParaRPr lang="es-ES" dirty="0"/>
          </a:p>
        </p:txBody>
      </p:sp>
    </p:spTree>
    <p:extLst>
      <p:ext uri="{BB962C8B-B14F-4D97-AF65-F5344CB8AC3E}">
        <p14:creationId xmlns:p14="http://schemas.microsoft.com/office/powerpoint/2010/main" val="657369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9CA004F4-F240-48F9-8AE1-486585C7F00D}" type="slidenum">
              <a:rPr lang="es-ES" smtClean="0"/>
              <a:t>3</a:t>
            </a:fld>
            <a:endParaRPr lang="es-ES" dirty="0"/>
          </a:p>
        </p:txBody>
      </p:sp>
    </p:spTree>
    <p:extLst>
      <p:ext uri="{BB962C8B-B14F-4D97-AF65-F5344CB8AC3E}">
        <p14:creationId xmlns:p14="http://schemas.microsoft.com/office/powerpoint/2010/main" val="2827323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9CA004F4-F240-48F9-8AE1-486585C7F00D}" type="slidenum">
              <a:rPr lang="es-ES" smtClean="0"/>
              <a:t>4</a:t>
            </a:fld>
            <a:endParaRPr lang="es-ES" dirty="0"/>
          </a:p>
        </p:txBody>
      </p:sp>
    </p:spTree>
    <p:extLst>
      <p:ext uri="{BB962C8B-B14F-4D97-AF65-F5344CB8AC3E}">
        <p14:creationId xmlns:p14="http://schemas.microsoft.com/office/powerpoint/2010/main" val="3683519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5465e7bc0b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65e7bc0b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97D165-49B0-44FF-A267-367F5A6EE306}"/>
              </a:ext>
            </a:extLst>
          </p:cNvPr>
          <p:cNvSpPr>
            <a:spLocks noGrp="1"/>
          </p:cNvSpPr>
          <p:nvPr>
            <p:ph type="ctrTitle"/>
          </p:nvPr>
        </p:nvSpPr>
        <p:spPr>
          <a:xfrm>
            <a:off x="1524000" y="2039514"/>
            <a:ext cx="9144000" cy="2128049"/>
          </a:xfrm>
        </p:spPr>
        <p:txBody>
          <a:bodyPr rtlCol="0" anchor="b"/>
          <a:lstStyle>
            <a:lvl1pPr algn="ctr">
              <a:lnSpc>
                <a:spcPct val="125000"/>
              </a:lnSpc>
              <a:defRPr sz="6000">
                <a:solidFill>
                  <a:schemeClr val="bg1"/>
                </a:solidFill>
              </a:defRPr>
            </a:lvl1pPr>
          </a:lstStyle>
          <a:p>
            <a:pPr rtl="0"/>
            <a:r>
              <a:rPr lang="es-ES" noProof="0"/>
              <a:t>Haga clic para modificar el estilo de título del patrón</a:t>
            </a:r>
            <a:endParaRPr lang="es-ES" noProof="0" dirty="0"/>
          </a:p>
        </p:txBody>
      </p:sp>
      <p:sp>
        <p:nvSpPr>
          <p:cNvPr id="3" name="Subtítulo 2">
            <a:extLst>
              <a:ext uri="{FF2B5EF4-FFF2-40B4-BE49-F238E27FC236}">
                <a16:creationId xmlns:a16="http://schemas.microsoft.com/office/drawing/2014/main" id="{56B52800-74D6-4A78-AC9B-8E737A1A3B0D}"/>
              </a:ext>
            </a:extLst>
          </p:cNvPr>
          <p:cNvSpPr>
            <a:spLocks noGrp="1"/>
          </p:cNvSpPr>
          <p:nvPr>
            <p:ph type="subTitle" idx="1"/>
          </p:nvPr>
        </p:nvSpPr>
        <p:spPr>
          <a:xfrm>
            <a:off x="1524000" y="4221162"/>
            <a:ext cx="9144000" cy="882001"/>
          </a:xfrm>
          <a:solidFill>
            <a:schemeClr val="accent2">
              <a:alpha val="90000"/>
            </a:schemeClr>
          </a:solidFill>
        </p:spPr>
        <p:txBody>
          <a:bodyPr rtlCol="0"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500" b="1" i="1" kern="1200" spc="65" dirty="0">
                <a:solidFill>
                  <a:schemeClr val="accent1"/>
                </a:solidFill>
                <a:latin typeface="Arial"/>
                <a:ea typeface="+mn-ea"/>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4" name="Marcador de fecha 3">
            <a:extLst>
              <a:ext uri="{FF2B5EF4-FFF2-40B4-BE49-F238E27FC236}">
                <a16:creationId xmlns:a16="http://schemas.microsoft.com/office/drawing/2014/main" id="{88B91F7B-C4AF-4FC6-A6BE-657DEF6D5358}"/>
              </a:ext>
            </a:extLst>
          </p:cNvPr>
          <p:cNvSpPr>
            <a:spLocks noGrp="1"/>
          </p:cNvSpPr>
          <p:nvPr>
            <p:ph type="dt" sz="half" idx="10"/>
          </p:nvPr>
        </p:nvSpPr>
        <p:spPr>
          <a:xfrm>
            <a:off x="838200" y="6174902"/>
            <a:ext cx="2743200" cy="365125"/>
          </a:xfrm>
          <a:prstGeom prst="rect">
            <a:avLst/>
          </a:prstGeom>
        </p:spPr>
        <p:txBody>
          <a:bodyPr rtlCol="0"/>
          <a:lstStyle/>
          <a:p>
            <a:pPr rtl="0"/>
            <a:fld id="{CF770DA5-3DC3-4237-90EB-C415EB41C75A}" type="datetime1">
              <a:rPr lang="es-ES" noProof="0" smtClean="0"/>
              <a:t>26/05/2025</a:t>
            </a:fld>
            <a:endParaRPr lang="es-ES" noProof="0" dirty="0"/>
          </a:p>
        </p:txBody>
      </p:sp>
      <p:sp>
        <p:nvSpPr>
          <p:cNvPr id="5" name="Marcador de pie de página 4">
            <a:extLst>
              <a:ext uri="{FF2B5EF4-FFF2-40B4-BE49-F238E27FC236}">
                <a16:creationId xmlns:a16="http://schemas.microsoft.com/office/drawing/2014/main" id="{5BED32F8-B0C7-4332-B0A5-BC19DD8C4CF5}"/>
              </a:ext>
            </a:extLst>
          </p:cNvPr>
          <p:cNvSpPr>
            <a:spLocks noGrp="1"/>
          </p:cNvSpPr>
          <p:nvPr>
            <p:ph type="ftr" sz="quarter" idx="11"/>
          </p:nvPr>
        </p:nvSpPr>
        <p:spPr>
          <a:xfrm>
            <a:off x="4038600" y="6174902"/>
            <a:ext cx="4114800" cy="365125"/>
          </a:xfrm>
          <a:prstGeom prst="rect">
            <a:avLst/>
          </a:prstGeom>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B0030946-D0C7-4F78-94B0-427DAA6D5CB0}"/>
              </a:ext>
            </a:extLst>
          </p:cNvPr>
          <p:cNvSpPr>
            <a:spLocks noGrp="1"/>
          </p:cNvSpPr>
          <p:nvPr>
            <p:ph type="sldNum" sz="quarter" idx="12"/>
          </p:nvPr>
        </p:nvSpPr>
        <p:spPr>
          <a:xfrm>
            <a:off x="11453346" y="6174902"/>
            <a:ext cx="357116" cy="365125"/>
          </a:xfrm>
          <a:prstGeom prst="rect">
            <a:avLst/>
          </a:prstGeom>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2189509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211141-A77D-4E0E-8CAF-4CD3B279937B}"/>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a:extLst>
              <a:ext uri="{FF2B5EF4-FFF2-40B4-BE49-F238E27FC236}">
                <a16:creationId xmlns:a16="http://schemas.microsoft.com/office/drawing/2014/main" id="{017EFDE0-5A54-402A-B0C3-6BC0BB739C25}"/>
              </a:ext>
            </a:extLst>
          </p:cNvPr>
          <p:cNvSpPr>
            <a:spLocks noGrp="1"/>
          </p:cNvSpPr>
          <p:nvPr>
            <p:ph idx="1"/>
          </p:nvPr>
        </p:nvSpPr>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fecha 3">
            <a:extLst>
              <a:ext uri="{FF2B5EF4-FFF2-40B4-BE49-F238E27FC236}">
                <a16:creationId xmlns:a16="http://schemas.microsoft.com/office/drawing/2014/main" id="{8A2825AD-4585-4E37-A076-3D0070C9300C}"/>
              </a:ext>
            </a:extLst>
          </p:cNvPr>
          <p:cNvSpPr>
            <a:spLocks noGrp="1"/>
          </p:cNvSpPr>
          <p:nvPr>
            <p:ph type="dt" sz="half" idx="10"/>
          </p:nvPr>
        </p:nvSpPr>
        <p:spPr>
          <a:xfrm>
            <a:off x="838200" y="6174902"/>
            <a:ext cx="2743200" cy="365125"/>
          </a:xfrm>
          <a:prstGeom prst="rect">
            <a:avLst/>
          </a:prstGeom>
        </p:spPr>
        <p:txBody>
          <a:bodyPr rtlCol="0"/>
          <a:lstStyle/>
          <a:p>
            <a:pPr rtl="0"/>
            <a:fld id="{95949101-CB98-4C8F-81DB-71E43D7BC626}" type="datetime1">
              <a:rPr lang="es-ES" noProof="0" smtClean="0"/>
              <a:t>26/05/2025</a:t>
            </a:fld>
            <a:endParaRPr lang="es-ES" noProof="0" dirty="0"/>
          </a:p>
        </p:txBody>
      </p:sp>
      <p:sp>
        <p:nvSpPr>
          <p:cNvPr id="5" name="Marcador de pie de página 4">
            <a:extLst>
              <a:ext uri="{FF2B5EF4-FFF2-40B4-BE49-F238E27FC236}">
                <a16:creationId xmlns:a16="http://schemas.microsoft.com/office/drawing/2014/main" id="{512064AD-EDC3-4B13-8CD6-49EB60099ED4}"/>
              </a:ext>
            </a:extLst>
          </p:cNvPr>
          <p:cNvSpPr>
            <a:spLocks noGrp="1"/>
          </p:cNvSpPr>
          <p:nvPr>
            <p:ph type="ftr" sz="quarter" idx="11"/>
          </p:nvPr>
        </p:nvSpPr>
        <p:spPr>
          <a:xfrm>
            <a:off x="4038600" y="6174902"/>
            <a:ext cx="4114800" cy="365125"/>
          </a:xfrm>
          <a:prstGeom prst="rect">
            <a:avLst/>
          </a:prstGeom>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7890FD1E-16F6-49B1-A938-8CE601ED7AFC}"/>
              </a:ext>
            </a:extLst>
          </p:cNvPr>
          <p:cNvSpPr>
            <a:spLocks noGrp="1"/>
          </p:cNvSpPr>
          <p:nvPr>
            <p:ph type="sldNum" sz="quarter" idx="12"/>
          </p:nvPr>
        </p:nvSpPr>
        <p:spPr>
          <a:xfrm>
            <a:off x="11453346" y="6174902"/>
            <a:ext cx="357116" cy="365125"/>
          </a:xfrm>
          <a:prstGeom prst="rect">
            <a:avLst/>
          </a:prstGeom>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3325465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9FA988-92AD-48D7-890A-AA0540961DE2}"/>
              </a:ext>
            </a:extLst>
          </p:cNvPr>
          <p:cNvSpPr>
            <a:spLocks noGrp="1"/>
          </p:cNvSpPr>
          <p:nvPr>
            <p:ph type="title"/>
          </p:nvPr>
        </p:nvSpPr>
        <p:spPr>
          <a:xfrm>
            <a:off x="831850" y="1709738"/>
            <a:ext cx="10515600" cy="2852737"/>
          </a:xfrm>
        </p:spPr>
        <p:txBody>
          <a:bodyPr rtlCol="0" anchor="b"/>
          <a:lstStyle>
            <a:lvl1pPr>
              <a:defRPr sz="6000"/>
            </a:lvl1pPr>
          </a:lstStyle>
          <a:p>
            <a:pPr rtl="0"/>
            <a:r>
              <a:rPr lang="es-ES" noProof="0"/>
              <a:t>Haga clic para modificar el estilo de título del patrón</a:t>
            </a:r>
            <a:endParaRPr lang="es-ES" noProof="0" dirty="0"/>
          </a:p>
        </p:txBody>
      </p:sp>
      <p:sp>
        <p:nvSpPr>
          <p:cNvPr id="3" name="Marcador de posición de texto 2">
            <a:extLst>
              <a:ext uri="{FF2B5EF4-FFF2-40B4-BE49-F238E27FC236}">
                <a16:creationId xmlns:a16="http://schemas.microsoft.com/office/drawing/2014/main" id="{EAA999FA-A189-41DB-9CFC-D1356C534373}"/>
              </a:ext>
            </a:extLst>
          </p:cNvPr>
          <p:cNvSpPr>
            <a:spLocks noGrp="1"/>
          </p:cNvSpPr>
          <p:nvPr>
            <p:ph type="body" idx="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Haga clic para modificar los estilos de texto del patrón</a:t>
            </a:r>
          </a:p>
        </p:txBody>
      </p:sp>
      <p:sp>
        <p:nvSpPr>
          <p:cNvPr id="4" name="Marcador de fecha 3">
            <a:extLst>
              <a:ext uri="{FF2B5EF4-FFF2-40B4-BE49-F238E27FC236}">
                <a16:creationId xmlns:a16="http://schemas.microsoft.com/office/drawing/2014/main" id="{B24D83DC-20E7-4B71-9794-36FC33B1BA03}"/>
              </a:ext>
            </a:extLst>
          </p:cNvPr>
          <p:cNvSpPr>
            <a:spLocks noGrp="1"/>
          </p:cNvSpPr>
          <p:nvPr>
            <p:ph type="dt" sz="half" idx="10"/>
          </p:nvPr>
        </p:nvSpPr>
        <p:spPr>
          <a:xfrm>
            <a:off x="838200" y="6174902"/>
            <a:ext cx="2743200" cy="365125"/>
          </a:xfrm>
          <a:prstGeom prst="rect">
            <a:avLst/>
          </a:prstGeom>
        </p:spPr>
        <p:txBody>
          <a:bodyPr rtlCol="0"/>
          <a:lstStyle/>
          <a:p>
            <a:pPr rtl="0"/>
            <a:fld id="{7D302F5C-0234-440C-8773-490E51DE01B9}" type="datetime1">
              <a:rPr lang="es-ES" noProof="0" smtClean="0"/>
              <a:t>26/05/2025</a:t>
            </a:fld>
            <a:endParaRPr lang="es-ES" noProof="0" dirty="0"/>
          </a:p>
        </p:txBody>
      </p:sp>
      <p:sp>
        <p:nvSpPr>
          <p:cNvPr id="5" name="Marcador de pie de página 4">
            <a:extLst>
              <a:ext uri="{FF2B5EF4-FFF2-40B4-BE49-F238E27FC236}">
                <a16:creationId xmlns:a16="http://schemas.microsoft.com/office/drawing/2014/main" id="{44E7D103-1290-4592-B37C-19C9C9DBEAE4}"/>
              </a:ext>
            </a:extLst>
          </p:cNvPr>
          <p:cNvSpPr>
            <a:spLocks noGrp="1"/>
          </p:cNvSpPr>
          <p:nvPr>
            <p:ph type="ftr" sz="quarter" idx="11"/>
          </p:nvPr>
        </p:nvSpPr>
        <p:spPr>
          <a:xfrm>
            <a:off x="4038600" y="6174902"/>
            <a:ext cx="4114800" cy="365125"/>
          </a:xfrm>
          <a:prstGeom prst="rect">
            <a:avLst/>
          </a:prstGeom>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15955B1B-4A5C-42C7-99A5-B8217736F178}"/>
              </a:ext>
            </a:extLst>
          </p:cNvPr>
          <p:cNvSpPr>
            <a:spLocks noGrp="1"/>
          </p:cNvSpPr>
          <p:nvPr>
            <p:ph type="sldNum" sz="quarter" idx="12"/>
          </p:nvPr>
        </p:nvSpPr>
        <p:spPr>
          <a:xfrm>
            <a:off x="11453346" y="6174902"/>
            <a:ext cx="357116" cy="365125"/>
          </a:xfrm>
          <a:prstGeom prst="rect">
            <a:avLst/>
          </a:prstGeom>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193320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contenidos">
    <p:spTree>
      <p:nvGrpSpPr>
        <p:cNvPr id="1" name=""/>
        <p:cNvGrpSpPr/>
        <p:nvPr/>
      </p:nvGrpSpPr>
      <p:grpSpPr>
        <a:xfrm>
          <a:off x="0" y="0"/>
          <a:ext cx="0" cy="0"/>
          <a:chOff x="0" y="0"/>
          <a:chExt cx="0" cy="0"/>
        </a:xfrm>
      </p:grpSpPr>
      <p:sp>
        <p:nvSpPr>
          <p:cNvPr id="7" name="Marcador de posición de número de diapositiva 6">
            <a:extLst>
              <a:ext uri="{FF2B5EF4-FFF2-40B4-BE49-F238E27FC236}">
                <a16:creationId xmlns:a16="http://schemas.microsoft.com/office/drawing/2014/main" id="{4E60EB58-EF7E-435A-8B07-B5BCF3AF119F}"/>
              </a:ext>
            </a:extLst>
          </p:cNvPr>
          <p:cNvSpPr>
            <a:spLocks noGrp="1"/>
          </p:cNvSpPr>
          <p:nvPr>
            <p:ph type="sldNum" sz="quarter" idx="12"/>
          </p:nvPr>
        </p:nvSpPr>
        <p:spPr>
          <a:xfrm>
            <a:off x="11453346" y="6174902"/>
            <a:ext cx="357116" cy="365125"/>
          </a:xfrm>
          <a:prstGeom prst="rect">
            <a:avLst/>
          </a:prstGeom>
        </p:spPr>
        <p:txBody>
          <a:bodyPr rtlCol="0"/>
          <a:lstStyle/>
          <a:p>
            <a:pPr rtl="0"/>
            <a:fld id="{82EE24B5-652C-4DB5-B7C3-B5BBEC1280B1}" type="slidenum">
              <a:rPr lang="es-ES" noProof="0" smtClean="0"/>
              <a:t>‹Nº›</a:t>
            </a:fld>
            <a:endParaRPr lang="es-ES" noProof="0" dirty="0"/>
          </a:p>
        </p:txBody>
      </p:sp>
      <p:sp>
        <p:nvSpPr>
          <p:cNvPr id="2" name="Título 1">
            <a:extLst>
              <a:ext uri="{FF2B5EF4-FFF2-40B4-BE49-F238E27FC236}">
                <a16:creationId xmlns:a16="http://schemas.microsoft.com/office/drawing/2014/main" id="{E7F76098-6FA1-470A-BEF4-E4B0AC75E8FE}"/>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contenido 2">
            <a:extLst>
              <a:ext uri="{FF2B5EF4-FFF2-40B4-BE49-F238E27FC236}">
                <a16:creationId xmlns:a16="http://schemas.microsoft.com/office/drawing/2014/main" id="{4B647ABC-6745-43B6-8A64-6E191BD65CA2}"/>
              </a:ext>
            </a:extLst>
          </p:cNvPr>
          <p:cNvSpPr>
            <a:spLocks noGrp="1"/>
          </p:cNvSpPr>
          <p:nvPr>
            <p:ph sz="half" idx="1"/>
          </p:nvPr>
        </p:nvSpPr>
        <p:spPr>
          <a:xfrm>
            <a:off x="838200" y="1825625"/>
            <a:ext cx="5181600" cy="435133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contenido 3">
            <a:extLst>
              <a:ext uri="{FF2B5EF4-FFF2-40B4-BE49-F238E27FC236}">
                <a16:creationId xmlns:a16="http://schemas.microsoft.com/office/drawing/2014/main" id="{E4387105-2538-4216-9A7E-445FA092F960}"/>
              </a:ext>
            </a:extLst>
          </p:cNvPr>
          <p:cNvSpPr>
            <a:spLocks noGrp="1"/>
          </p:cNvSpPr>
          <p:nvPr>
            <p:ph sz="half" idx="2"/>
          </p:nvPr>
        </p:nvSpPr>
        <p:spPr>
          <a:xfrm>
            <a:off x="6172200" y="1825625"/>
            <a:ext cx="5181600" cy="435133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fecha 4">
            <a:extLst>
              <a:ext uri="{FF2B5EF4-FFF2-40B4-BE49-F238E27FC236}">
                <a16:creationId xmlns:a16="http://schemas.microsoft.com/office/drawing/2014/main" id="{47F57DE0-C032-4FCC-9006-09C2C328A665}"/>
              </a:ext>
            </a:extLst>
          </p:cNvPr>
          <p:cNvSpPr>
            <a:spLocks noGrp="1"/>
          </p:cNvSpPr>
          <p:nvPr>
            <p:ph type="dt" sz="half" idx="10"/>
          </p:nvPr>
        </p:nvSpPr>
        <p:spPr>
          <a:xfrm>
            <a:off x="838200" y="6174902"/>
            <a:ext cx="2743200" cy="365125"/>
          </a:xfrm>
          <a:prstGeom prst="rect">
            <a:avLst/>
          </a:prstGeom>
        </p:spPr>
        <p:txBody>
          <a:bodyPr rtlCol="0"/>
          <a:lstStyle/>
          <a:p>
            <a:pPr rtl="0"/>
            <a:fld id="{C4961380-8195-41EE-9574-2B3429217481}" type="datetime1">
              <a:rPr lang="es-ES" noProof="0" smtClean="0"/>
              <a:t>26/05/2025</a:t>
            </a:fld>
            <a:endParaRPr lang="es-ES" noProof="0" dirty="0"/>
          </a:p>
        </p:txBody>
      </p:sp>
      <p:sp>
        <p:nvSpPr>
          <p:cNvPr id="6" name="Marcador de pie de página 5">
            <a:extLst>
              <a:ext uri="{FF2B5EF4-FFF2-40B4-BE49-F238E27FC236}">
                <a16:creationId xmlns:a16="http://schemas.microsoft.com/office/drawing/2014/main" id="{90C776CB-2819-4488-9012-A6EA22079A47}"/>
              </a:ext>
            </a:extLst>
          </p:cNvPr>
          <p:cNvSpPr>
            <a:spLocks noGrp="1"/>
          </p:cNvSpPr>
          <p:nvPr>
            <p:ph type="ftr" sz="quarter" idx="11"/>
          </p:nvPr>
        </p:nvSpPr>
        <p:spPr>
          <a:xfrm>
            <a:off x="4038600" y="6174902"/>
            <a:ext cx="4114800" cy="365125"/>
          </a:xfrm>
          <a:prstGeom prst="rect">
            <a:avLst/>
          </a:prstGeom>
        </p:spPr>
        <p:txBody>
          <a:bodyPr rtlCol="0"/>
          <a:lstStyle/>
          <a:p>
            <a:pPr rtl="0"/>
            <a:endParaRPr lang="es-ES" noProof="0" dirty="0"/>
          </a:p>
        </p:txBody>
      </p:sp>
    </p:spTree>
    <p:extLst>
      <p:ext uri="{BB962C8B-B14F-4D97-AF65-F5344CB8AC3E}">
        <p14:creationId xmlns:p14="http://schemas.microsoft.com/office/powerpoint/2010/main" val="1325036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F43C73-1D0F-45F9-A7E4-E9D24EAFDE3D}"/>
              </a:ext>
            </a:extLst>
          </p:cNvPr>
          <p:cNvSpPr>
            <a:spLocks noGrp="1"/>
          </p:cNvSpPr>
          <p:nvPr>
            <p:ph type="title"/>
          </p:nvPr>
        </p:nvSpPr>
        <p:spPr>
          <a:xfrm>
            <a:off x="839788" y="365125"/>
            <a:ext cx="10515600" cy="1325563"/>
          </a:xfrm>
        </p:spPr>
        <p:txBody>
          <a:bodyPr rtlCol="0"/>
          <a:lstStyle/>
          <a:p>
            <a:pPr rtl="0"/>
            <a:r>
              <a:rPr lang="es-ES" noProof="0"/>
              <a:t>Haga clic para modificar el estilo de título del patrón</a:t>
            </a:r>
            <a:endParaRPr lang="es-ES" noProof="0" dirty="0"/>
          </a:p>
        </p:txBody>
      </p:sp>
      <p:sp>
        <p:nvSpPr>
          <p:cNvPr id="3" name="Marcador de posición de texto 2">
            <a:extLst>
              <a:ext uri="{FF2B5EF4-FFF2-40B4-BE49-F238E27FC236}">
                <a16:creationId xmlns:a16="http://schemas.microsoft.com/office/drawing/2014/main" id="{D3B88E76-F6AB-4621-A9A6-20A81C5A3F91}"/>
              </a:ext>
            </a:extLst>
          </p:cNvPr>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a:extLst>
              <a:ext uri="{FF2B5EF4-FFF2-40B4-BE49-F238E27FC236}">
                <a16:creationId xmlns:a16="http://schemas.microsoft.com/office/drawing/2014/main" id="{6A313FB9-6D6C-4F61-9E7A-76E686D06C25}"/>
              </a:ext>
            </a:extLst>
          </p:cNvPr>
          <p:cNvSpPr>
            <a:spLocks noGrp="1"/>
          </p:cNvSpPr>
          <p:nvPr>
            <p:ph sz="half" idx="2"/>
          </p:nvPr>
        </p:nvSpPr>
        <p:spPr>
          <a:xfrm>
            <a:off x="839788" y="2505075"/>
            <a:ext cx="5157787" cy="368458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texto 4">
            <a:extLst>
              <a:ext uri="{FF2B5EF4-FFF2-40B4-BE49-F238E27FC236}">
                <a16:creationId xmlns:a16="http://schemas.microsoft.com/office/drawing/2014/main" id="{2A93A737-E48B-4909-BE04-F55B58103257}"/>
              </a:ext>
            </a:extLst>
          </p:cNvPr>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posición de contenido 5">
            <a:extLst>
              <a:ext uri="{FF2B5EF4-FFF2-40B4-BE49-F238E27FC236}">
                <a16:creationId xmlns:a16="http://schemas.microsoft.com/office/drawing/2014/main" id="{D8F9958C-DB5F-444E-ACE8-73F5E0CA67F1}"/>
              </a:ext>
            </a:extLst>
          </p:cNvPr>
          <p:cNvSpPr>
            <a:spLocks noGrp="1"/>
          </p:cNvSpPr>
          <p:nvPr>
            <p:ph sz="quarter" idx="4"/>
          </p:nvPr>
        </p:nvSpPr>
        <p:spPr>
          <a:xfrm>
            <a:off x="6172200" y="2505075"/>
            <a:ext cx="5183188" cy="368458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7" name="Marcador de fecha 6">
            <a:extLst>
              <a:ext uri="{FF2B5EF4-FFF2-40B4-BE49-F238E27FC236}">
                <a16:creationId xmlns:a16="http://schemas.microsoft.com/office/drawing/2014/main" id="{11D097D1-3052-4C1F-B573-CA25FFF6CCB5}"/>
              </a:ext>
            </a:extLst>
          </p:cNvPr>
          <p:cNvSpPr>
            <a:spLocks noGrp="1"/>
          </p:cNvSpPr>
          <p:nvPr>
            <p:ph type="dt" sz="half" idx="10"/>
          </p:nvPr>
        </p:nvSpPr>
        <p:spPr>
          <a:xfrm>
            <a:off x="838200" y="6174902"/>
            <a:ext cx="2743200" cy="365125"/>
          </a:xfrm>
          <a:prstGeom prst="rect">
            <a:avLst/>
          </a:prstGeom>
        </p:spPr>
        <p:txBody>
          <a:bodyPr rtlCol="0"/>
          <a:lstStyle/>
          <a:p>
            <a:pPr rtl="0"/>
            <a:fld id="{762FC62E-52FA-4487-916D-9648D6F062C2}" type="datetime1">
              <a:rPr lang="es-ES" noProof="0" smtClean="0"/>
              <a:t>26/05/2025</a:t>
            </a:fld>
            <a:endParaRPr lang="es-ES" noProof="0" dirty="0"/>
          </a:p>
        </p:txBody>
      </p:sp>
      <p:sp>
        <p:nvSpPr>
          <p:cNvPr id="8" name="Marcador de pie de página 7">
            <a:extLst>
              <a:ext uri="{FF2B5EF4-FFF2-40B4-BE49-F238E27FC236}">
                <a16:creationId xmlns:a16="http://schemas.microsoft.com/office/drawing/2014/main" id="{F2607AC3-2220-4DDA-A22A-C404538FE48E}"/>
              </a:ext>
            </a:extLst>
          </p:cNvPr>
          <p:cNvSpPr>
            <a:spLocks noGrp="1"/>
          </p:cNvSpPr>
          <p:nvPr>
            <p:ph type="ftr" sz="quarter" idx="11"/>
          </p:nvPr>
        </p:nvSpPr>
        <p:spPr>
          <a:xfrm>
            <a:off x="4038600" y="6174902"/>
            <a:ext cx="4114800" cy="365125"/>
          </a:xfrm>
          <a:prstGeom prst="rect">
            <a:avLst/>
          </a:prstGeom>
        </p:spPr>
        <p:txBody>
          <a:bodyPr rtlCol="0"/>
          <a:lstStyle/>
          <a:p>
            <a:pPr rtl="0"/>
            <a:endParaRPr lang="es-ES" noProof="0" dirty="0"/>
          </a:p>
        </p:txBody>
      </p:sp>
      <p:sp>
        <p:nvSpPr>
          <p:cNvPr id="9" name="Marcador de número de diapositiva 8">
            <a:extLst>
              <a:ext uri="{FF2B5EF4-FFF2-40B4-BE49-F238E27FC236}">
                <a16:creationId xmlns:a16="http://schemas.microsoft.com/office/drawing/2014/main" id="{6FD8DEB3-F122-4B42-9E12-F61189B878B2}"/>
              </a:ext>
            </a:extLst>
          </p:cNvPr>
          <p:cNvSpPr>
            <a:spLocks noGrp="1"/>
          </p:cNvSpPr>
          <p:nvPr>
            <p:ph type="sldNum" sz="quarter" idx="12"/>
          </p:nvPr>
        </p:nvSpPr>
        <p:spPr>
          <a:xfrm>
            <a:off x="11453346" y="6174902"/>
            <a:ext cx="357116" cy="365125"/>
          </a:xfrm>
          <a:prstGeom prst="rect">
            <a:avLst/>
          </a:prstGeom>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4032769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789EF5-3FD9-4423-A9E8-B67B4E902E9B}"/>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fecha 2">
            <a:extLst>
              <a:ext uri="{FF2B5EF4-FFF2-40B4-BE49-F238E27FC236}">
                <a16:creationId xmlns:a16="http://schemas.microsoft.com/office/drawing/2014/main" id="{030D7191-31B4-440E-A4E9-F412FA55824C}"/>
              </a:ext>
            </a:extLst>
          </p:cNvPr>
          <p:cNvSpPr>
            <a:spLocks noGrp="1"/>
          </p:cNvSpPr>
          <p:nvPr>
            <p:ph type="dt" sz="half" idx="10"/>
          </p:nvPr>
        </p:nvSpPr>
        <p:spPr>
          <a:xfrm>
            <a:off x="838200" y="6174902"/>
            <a:ext cx="2743200" cy="365125"/>
          </a:xfrm>
          <a:prstGeom prst="rect">
            <a:avLst/>
          </a:prstGeom>
        </p:spPr>
        <p:txBody>
          <a:bodyPr rtlCol="0"/>
          <a:lstStyle/>
          <a:p>
            <a:pPr rtl="0"/>
            <a:fld id="{83F9C069-0D28-49A2-89E8-C18F9A41EF29}" type="datetime1">
              <a:rPr lang="es-ES" noProof="0" smtClean="0"/>
              <a:t>26/05/2025</a:t>
            </a:fld>
            <a:endParaRPr lang="es-ES" noProof="0" dirty="0"/>
          </a:p>
        </p:txBody>
      </p:sp>
    </p:spTree>
    <p:extLst>
      <p:ext uri="{BB962C8B-B14F-4D97-AF65-F5344CB8AC3E}">
        <p14:creationId xmlns:p14="http://schemas.microsoft.com/office/powerpoint/2010/main" val="3691903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655C546-684A-45B9-8890-66DC55DF7D06}"/>
              </a:ext>
            </a:extLst>
          </p:cNvPr>
          <p:cNvSpPr>
            <a:spLocks noGrp="1"/>
          </p:cNvSpPr>
          <p:nvPr>
            <p:ph type="dt" sz="half" idx="10"/>
          </p:nvPr>
        </p:nvSpPr>
        <p:spPr>
          <a:xfrm>
            <a:off x="838200" y="6174902"/>
            <a:ext cx="2743200" cy="365125"/>
          </a:xfrm>
          <a:prstGeom prst="rect">
            <a:avLst/>
          </a:prstGeom>
        </p:spPr>
        <p:txBody>
          <a:bodyPr rtlCol="0"/>
          <a:lstStyle/>
          <a:p>
            <a:pPr rtl="0"/>
            <a:fld id="{6CA4CD59-E103-4131-8DF1-52DAB13F24DA}" type="datetime1">
              <a:rPr lang="es-ES" noProof="0" smtClean="0"/>
              <a:t>26/05/2025</a:t>
            </a:fld>
            <a:endParaRPr lang="es-ES" noProof="0" dirty="0"/>
          </a:p>
        </p:txBody>
      </p:sp>
      <p:sp>
        <p:nvSpPr>
          <p:cNvPr id="3" name="Marcador de pie de página 2">
            <a:extLst>
              <a:ext uri="{FF2B5EF4-FFF2-40B4-BE49-F238E27FC236}">
                <a16:creationId xmlns:a16="http://schemas.microsoft.com/office/drawing/2014/main" id="{4543EBDF-D696-42F7-B962-56F5FEE120CC}"/>
              </a:ext>
            </a:extLst>
          </p:cNvPr>
          <p:cNvSpPr>
            <a:spLocks noGrp="1"/>
          </p:cNvSpPr>
          <p:nvPr>
            <p:ph type="ftr" sz="quarter" idx="11"/>
          </p:nvPr>
        </p:nvSpPr>
        <p:spPr>
          <a:xfrm>
            <a:off x="4038600" y="6174902"/>
            <a:ext cx="4114800" cy="365125"/>
          </a:xfrm>
          <a:prstGeom prst="rect">
            <a:avLst/>
          </a:prstGeom>
        </p:spPr>
        <p:txBody>
          <a:bodyPr rtlCol="0"/>
          <a:lstStyle/>
          <a:p>
            <a:pPr rtl="0"/>
            <a:endParaRPr lang="es-ES" noProof="0" dirty="0"/>
          </a:p>
        </p:txBody>
      </p:sp>
      <p:sp>
        <p:nvSpPr>
          <p:cNvPr id="4" name="Marcador de número de diapositiva 3">
            <a:extLst>
              <a:ext uri="{FF2B5EF4-FFF2-40B4-BE49-F238E27FC236}">
                <a16:creationId xmlns:a16="http://schemas.microsoft.com/office/drawing/2014/main" id="{6789D77E-1675-4F9D-9113-B274CB0E87FA}"/>
              </a:ext>
            </a:extLst>
          </p:cNvPr>
          <p:cNvSpPr>
            <a:spLocks noGrp="1"/>
          </p:cNvSpPr>
          <p:nvPr>
            <p:ph type="sldNum" sz="quarter" idx="12"/>
          </p:nvPr>
        </p:nvSpPr>
        <p:spPr>
          <a:xfrm>
            <a:off x="11453346" y="6174902"/>
            <a:ext cx="357116" cy="365125"/>
          </a:xfrm>
          <a:prstGeom prst="rect">
            <a:avLst/>
          </a:prstGeom>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274602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8E9C90-06AB-49B5-9970-F5791DE93A41}"/>
              </a:ext>
            </a:extLst>
          </p:cNvPr>
          <p:cNvSpPr>
            <a:spLocks noGrp="1"/>
          </p:cNvSpPr>
          <p:nvPr>
            <p:ph type="title"/>
          </p:nvPr>
        </p:nvSpPr>
        <p:spPr>
          <a:xfrm>
            <a:off x="839788" y="457200"/>
            <a:ext cx="3932237" cy="1600200"/>
          </a:xfrm>
        </p:spPr>
        <p:txBody>
          <a:bodyPr rtlCol="0" anchor="b"/>
          <a:lstStyle>
            <a:lvl1pPr>
              <a:defRPr sz="3200"/>
            </a:lvl1pPr>
          </a:lstStyle>
          <a:p>
            <a:pPr rtl="0"/>
            <a:r>
              <a:rPr lang="es-ES" noProof="0"/>
              <a:t>Haga clic para modificar el estilo de título del patrón</a:t>
            </a:r>
            <a:endParaRPr lang="es-ES" noProof="0" dirty="0"/>
          </a:p>
        </p:txBody>
      </p:sp>
      <p:sp>
        <p:nvSpPr>
          <p:cNvPr id="3" name="Marcador de posición de contenido 2">
            <a:extLst>
              <a:ext uri="{FF2B5EF4-FFF2-40B4-BE49-F238E27FC236}">
                <a16:creationId xmlns:a16="http://schemas.microsoft.com/office/drawing/2014/main" id="{EFFB0071-932D-4CA0-92FB-A6E75AC85569}"/>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texto 3">
            <a:extLst>
              <a:ext uri="{FF2B5EF4-FFF2-40B4-BE49-F238E27FC236}">
                <a16:creationId xmlns:a16="http://schemas.microsoft.com/office/drawing/2014/main" id="{71C8D9F5-8B70-4BDD-9CB5-BBF87CF5535C}"/>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a:extLst>
              <a:ext uri="{FF2B5EF4-FFF2-40B4-BE49-F238E27FC236}">
                <a16:creationId xmlns:a16="http://schemas.microsoft.com/office/drawing/2014/main" id="{7989DE91-7A80-4682-9D32-2CD41DEFB7B2}"/>
              </a:ext>
            </a:extLst>
          </p:cNvPr>
          <p:cNvSpPr>
            <a:spLocks noGrp="1"/>
          </p:cNvSpPr>
          <p:nvPr>
            <p:ph type="dt" sz="half" idx="10"/>
          </p:nvPr>
        </p:nvSpPr>
        <p:spPr>
          <a:xfrm>
            <a:off x="838200" y="6174902"/>
            <a:ext cx="2743200" cy="365125"/>
          </a:xfrm>
          <a:prstGeom prst="rect">
            <a:avLst/>
          </a:prstGeom>
        </p:spPr>
        <p:txBody>
          <a:bodyPr rtlCol="0"/>
          <a:lstStyle/>
          <a:p>
            <a:pPr rtl="0"/>
            <a:fld id="{FA5B45D9-35B1-4184-8C71-E0506363883B}" type="datetime1">
              <a:rPr lang="es-ES" noProof="0" smtClean="0"/>
              <a:t>26/05/2025</a:t>
            </a:fld>
            <a:endParaRPr lang="es-ES" noProof="0" dirty="0"/>
          </a:p>
        </p:txBody>
      </p:sp>
      <p:sp>
        <p:nvSpPr>
          <p:cNvPr id="6" name="Marcador de pie de página 5">
            <a:extLst>
              <a:ext uri="{FF2B5EF4-FFF2-40B4-BE49-F238E27FC236}">
                <a16:creationId xmlns:a16="http://schemas.microsoft.com/office/drawing/2014/main" id="{7B9E2482-2E7D-4868-95A7-4A55B40FECE1}"/>
              </a:ext>
            </a:extLst>
          </p:cNvPr>
          <p:cNvSpPr>
            <a:spLocks noGrp="1"/>
          </p:cNvSpPr>
          <p:nvPr>
            <p:ph type="ftr" sz="quarter" idx="11"/>
          </p:nvPr>
        </p:nvSpPr>
        <p:spPr>
          <a:xfrm>
            <a:off x="4038600" y="6174902"/>
            <a:ext cx="4114800" cy="365125"/>
          </a:xfrm>
          <a:prstGeom prst="rect">
            <a:avLst/>
          </a:prstGeom>
        </p:spPr>
        <p:txBody>
          <a:bodyPr rtlCol="0"/>
          <a:lstStyle/>
          <a:p>
            <a:pPr rtl="0"/>
            <a:endParaRPr lang="es-ES" noProof="0" dirty="0"/>
          </a:p>
        </p:txBody>
      </p:sp>
      <p:sp>
        <p:nvSpPr>
          <p:cNvPr id="7" name="Marcador de posición de número de diapositiva 6">
            <a:extLst>
              <a:ext uri="{FF2B5EF4-FFF2-40B4-BE49-F238E27FC236}">
                <a16:creationId xmlns:a16="http://schemas.microsoft.com/office/drawing/2014/main" id="{1F4E84CF-C3E5-4475-84C7-21CBAC064B74}"/>
              </a:ext>
            </a:extLst>
          </p:cNvPr>
          <p:cNvSpPr>
            <a:spLocks noGrp="1"/>
          </p:cNvSpPr>
          <p:nvPr>
            <p:ph type="sldNum" sz="quarter" idx="12"/>
          </p:nvPr>
        </p:nvSpPr>
        <p:spPr>
          <a:xfrm>
            <a:off x="11453346" y="6174902"/>
            <a:ext cx="357116" cy="365125"/>
          </a:xfrm>
          <a:prstGeom prst="rect">
            <a:avLst/>
          </a:prstGeom>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2962625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90E0AA-5363-4861-AB6B-0E4D34D74B92}"/>
              </a:ext>
            </a:extLst>
          </p:cNvPr>
          <p:cNvSpPr>
            <a:spLocks noGrp="1"/>
          </p:cNvSpPr>
          <p:nvPr>
            <p:ph type="title"/>
          </p:nvPr>
        </p:nvSpPr>
        <p:spPr>
          <a:xfrm>
            <a:off x="839788" y="457200"/>
            <a:ext cx="3932237" cy="1600200"/>
          </a:xfrm>
        </p:spPr>
        <p:txBody>
          <a:bodyPr rtlCol="0" anchor="b"/>
          <a:lstStyle>
            <a:lvl1pPr>
              <a:defRPr sz="3200"/>
            </a:lvl1pPr>
          </a:lstStyle>
          <a:p>
            <a:pPr rtl="0"/>
            <a:r>
              <a:rPr lang="es-ES" noProof="0"/>
              <a:t>Haga clic para modificar el estilo de título del patrón</a:t>
            </a:r>
            <a:endParaRPr lang="es-ES" noProof="0" dirty="0"/>
          </a:p>
        </p:txBody>
      </p:sp>
      <p:sp>
        <p:nvSpPr>
          <p:cNvPr id="3" name="Marcador de posición de imagen 2">
            <a:extLst>
              <a:ext uri="{FF2B5EF4-FFF2-40B4-BE49-F238E27FC236}">
                <a16:creationId xmlns:a16="http://schemas.microsoft.com/office/drawing/2014/main" id="{8D44B7CE-2038-4CCA-AA8A-D03DE5FD956E}"/>
              </a:ext>
            </a:extLst>
          </p:cNvPr>
          <p:cNvSpPr>
            <a:spLocks noGrp="1"/>
          </p:cNvSpPr>
          <p:nvPr>
            <p:ph type="pic" idx="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dirty="0"/>
          </a:p>
        </p:txBody>
      </p:sp>
      <p:sp>
        <p:nvSpPr>
          <p:cNvPr id="4" name="Marcador de posición de texto 3">
            <a:extLst>
              <a:ext uri="{FF2B5EF4-FFF2-40B4-BE49-F238E27FC236}">
                <a16:creationId xmlns:a16="http://schemas.microsoft.com/office/drawing/2014/main" id="{EA79774D-36EB-4201-B1AC-922DD2E06640}"/>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a:extLst>
              <a:ext uri="{FF2B5EF4-FFF2-40B4-BE49-F238E27FC236}">
                <a16:creationId xmlns:a16="http://schemas.microsoft.com/office/drawing/2014/main" id="{CAD1E234-1CB2-41A0-B40D-7E7F160CBA11}"/>
              </a:ext>
            </a:extLst>
          </p:cNvPr>
          <p:cNvSpPr>
            <a:spLocks noGrp="1"/>
          </p:cNvSpPr>
          <p:nvPr>
            <p:ph type="dt" sz="half" idx="10"/>
          </p:nvPr>
        </p:nvSpPr>
        <p:spPr>
          <a:xfrm>
            <a:off x="838200" y="6174902"/>
            <a:ext cx="2743200" cy="365125"/>
          </a:xfrm>
          <a:prstGeom prst="rect">
            <a:avLst/>
          </a:prstGeom>
        </p:spPr>
        <p:txBody>
          <a:bodyPr rtlCol="0"/>
          <a:lstStyle/>
          <a:p>
            <a:pPr rtl="0"/>
            <a:fld id="{F6BD2F12-55B2-4258-9B7A-329D8EBE60F6}" type="datetime1">
              <a:rPr lang="es-ES" noProof="0" smtClean="0"/>
              <a:t>26/05/2025</a:t>
            </a:fld>
            <a:endParaRPr lang="es-ES" noProof="0" dirty="0"/>
          </a:p>
        </p:txBody>
      </p:sp>
      <p:sp>
        <p:nvSpPr>
          <p:cNvPr id="6" name="Marcador de pie de página 5">
            <a:extLst>
              <a:ext uri="{FF2B5EF4-FFF2-40B4-BE49-F238E27FC236}">
                <a16:creationId xmlns:a16="http://schemas.microsoft.com/office/drawing/2014/main" id="{99FD472E-6334-4051-B4D9-6361A819F792}"/>
              </a:ext>
            </a:extLst>
          </p:cNvPr>
          <p:cNvSpPr>
            <a:spLocks noGrp="1"/>
          </p:cNvSpPr>
          <p:nvPr>
            <p:ph type="ftr" sz="quarter" idx="11"/>
          </p:nvPr>
        </p:nvSpPr>
        <p:spPr>
          <a:xfrm>
            <a:off x="4038600" y="6174902"/>
            <a:ext cx="4114800" cy="365125"/>
          </a:xfrm>
          <a:prstGeom prst="rect">
            <a:avLst/>
          </a:prstGeom>
        </p:spPr>
        <p:txBody>
          <a:bodyPr rtlCol="0"/>
          <a:lstStyle/>
          <a:p>
            <a:pPr rtl="0"/>
            <a:endParaRPr lang="es-ES" noProof="0" dirty="0"/>
          </a:p>
        </p:txBody>
      </p:sp>
      <p:sp>
        <p:nvSpPr>
          <p:cNvPr id="7" name="Marcador de posición de número de diapositiva 6">
            <a:extLst>
              <a:ext uri="{FF2B5EF4-FFF2-40B4-BE49-F238E27FC236}">
                <a16:creationId xmlns:a16="http://schemas.microsoft.com/office/drawing/2014/main" id="{192384B9-6290-4070-B7D1-A105B27F0CB0}"/>
              </a:ext>
            </a:extLst>
          </p:cNvPr>
          <p:cNvSpPr>
            <a:spLocks noGrp="1"/>
          </p:cNvSpPr>
          <p:nvPr>
            <p:ph type="sldNum" sz="quarter" idx="12"/>
          </p:nvPr>
        </p:nvSpPr>
        <p:spPr>
          <a:xfrm>
            <a:off x="11453346" y="6174902"/>
            <a:ext cx="357116" cy="365125"/>
          </a:xfrm>
          <a:prstGeom prst="rect">
            <a:avLst/>
          </a:prstGeom>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2367443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88"/>
        <p:cNvGrpSpPr/>
        <p:nvPr/>
      </p:nvGrpSpPr>
      <p:grpSpPr>
        <a:xfrm>
          <a:off x="0" y="0"/>
          <a:ext cx="0" cy="0"/>
          <a:chOff x="0" y="0"/>
          <a:chExt cx="0" cy="0"/>
        </a:xfrm>
      </p:grpSpPr>
      <p:sp>
        <p:nvSpPr>
          <p:cNvPr id="89" name="Google Shape;89;p14"/>
          <p:cNvSpPr/>
          <p:nvPr/>
        </p:nvSpPr>
        <p:spPr>
          <a:xfrm flipH="1">
            <a:off x="5744668" y="-547675"/>
            <a:ext cx="8001200" cy="7619600"/>
          </a:xfrm>
          <a:prstGeom prst="hexagon">
            <a:avLst>
              <a:gd name="adj" fmla="val 25000"/>
              <a:gd name="vf" fmla="val 115470"/>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0" name="Google Shape;90;p14"/>
          <p:cNvSpPr/>
          <p:nvPr/>
        </p:nvSpPr>
        <p:spPr>
          <a:xfrm flipH="1">
            <a:off x="10024568" y="-547675"/>
            <a:ext cx="8001200" cy="7619600"/>
          </a:xfrm>
          <a:prstGeom prst="hexagon">
            <a:avLst>
              <a:gd name="adj" fmla="val 25000"/>
              <a:gd name="vf" fmla="val 115470"/>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1" name="Google Shape;91;p14"/>
          <p:cNvSpPr txBox="1">
            <a:spLocks noGrp="1"/>
          </p:cNvSpPr>
          <p:nvPr>
            <p:ph type="ctrTitle"/>
          </p:nvPr>
        </p:nvSpPr>
        <p:spPr>
          <a:xfrm flipH="1">
            <a:off x="7368024" y="2202733"/>
            <a:ext cx="2308800" cy="8636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1"/>
              </a:buClr>
              <a:buSzPts val="1800"/>
              <a:buFont typeface="Nunito Sans ExtraBold"/>
              <a:buNone/>
              <a:defRPr sz="2400" b="0">
                <a:solidFill>
                  <a:schemeClr val="dk1"/>
                </a:solidFill>
                <a:latin typeface="Nunito Sans ExtraBold"/>
                <a:ea typeface="Nunito Sans ExtraBold"/>
                <a:cs typeface="Nunito Sans ExtraBold"/>
                <a:sym typeface="Nunito Sans ExtraBold"/>
              </a:defRPr>
            </a:lvl1pPr>
            <a:lvl2pPr lvl="1" algn="r" rtl="0">
              <a:spcBef>
                <a:spcPts val="0"/>
              </a:spcBef>
              <a:spcAft>
                <a:spcPts val="0"/>
              </a:spcAft>
              <a:buClr>
                <a:schemeClr val="dk1"/>
              </a:buClr>
              <a:buSzPts val="1100"/>
              <a:buFont typeface="Nunito Sans ExtraBold"/>
              <a:buNone/>
              <a:defRPr sz="1467" b="0">
                <a:solidFill>
                  <a:schemeClr val="dk1"/>
                </a:solidFill>
                <a:latin typeface="Nunito Sans ExtraBold"/>
                <a:ea typeface="Nunito Sans ExtraBold"/>
                <a:cs typeface="Nunito Sans ExtraBold"/>
                <a:sym typeface="Nunito Sans ExtraBold"/>
              </a:defRPr>
            </a:lvl2pPr>
            <a:lvl3pPr lvl="2" algn="r" rtl="0">
              <a:spcBef>
                <a:spcPts val="0"/>
              </a:spcBef>
              <a:spcAft>
                <a:spcPts val="0"/>
              </a:spcAft>
              <a:buClr>
                <a:schemeClr val="dk1"/>
              </a:buClr>
              <a:buSzPts val="1100"/>
              <a:buFont typeface="Nunito Sans ExtraBold"/>
              <a:buNone/>
              <a:defRPr sz="1467" b="0">
                <a:solidFill>
                  <a:schemeClr val="dk1"/>
                </a:solidFill>
                <a:latin typeface="Nunito Sans ExtraBold"/>
                <a:ea typeface="Nunito Sans ExtraBold"/>
                <a:cs typeface="Nunito Sans ExtraBold"/>
                <a:sym typeface="Nunito Sans ExtraBold"/>
              </a:defRPr>
            </a:lvl3pPr>
            <a:lvl4pPr lvl="3" algn="r" rtl="0">
              <a:spcBef>
                <a:spcPts val="0"/>
              </a:spcBef>
              <a:spcAft>
                <a:spcPts val="0"/>
              </a:spcAft>
              <a:buClr>
                <a:schemeClr val="dk1"/>
              </a:buClr>
              <a:buSzPts val="1100"/>
              <a:buFont typeface="Nunito Sans ExtraBold"/>
              <a:buNone/>
              <a:defRPr sz="1467" b="0">
                <a:solidFill>
                  <a:schemeClr val="dk1"/>
                </a:solidFill>
                <a:latin typeface="Nunito Sans ExtraBold"/>
                <a:ea typeface="Nunito Sans ExtraBold"/>
                <a:cs typeface="Nunito Sans ExtraBold"/>
                <a:sym typeface="Nunito Sans ExtraBold"/>
              </a:defRPr>
            </a:lvl4pPr>
            <a:lvl5pPr lvl="4" algn="r" rtl="0">
              <a:spcBef>
                <a:spcPts val="0"/>
              </a:spcBef>
              <a:spcAft>
                <a:spcPts val="0"/>
              </a:spcAft>
              <a:buClr>
                <a:schemeClr val="dk1"/>
              </a:buClr>
              <a:buSzPts val="1100"/>
              <a:buFont typeface="Nunito Sans ExtraBold"/>
              <a:buNone/>
              <a:defRPr sz="1467" b="0">
                <a:solidFill>
                  <a:schemeClr val="dk1"/>
                </a:solidFill>
                <a:latin typeface="Nunito Sans ExtraBold"/>
                <a:ea typeface="Nunito Sans ExtraBold"/>
                <a:cs typeface="Nunito Sans ExtraBold"/>
                <a:sym typeface="Nunito Sans ExtraBold"/>
              </a:defRPr>
            </a:lvl5pPr>
            <a:lvl6pPr lvl="5" algn="r" rtl="0">
              <a:spcBef>
                <a:spcPts val="0"/>
              </a:spcBef>
              <a:spcAft>
                <a:spcPts val="0"/>
              </a:spcAft>
              <a:buClr>
                <a:schemeClr val="dk1"/>
              </a:buClr>
              <a:buSzPts val="1100"/>
              <a:buFont typeface="Nunito Sans ExtraBold"/>
              <a:buNone/>
              <a:defRPr sz="1467" b="0">
                <a:solidFill>
                  <a:schemeClr val="dk1"/>
                </a:solidFill>
                <a:latin typeface="Nunito Sans ExtraBold"/>
                <a:ea typeface="Nunito Sans ExtraBold"/>
                <a:cs typeface="Nunito Sans ExtraBold"/>
                <a:sym typeface="Nunito Sans ExtraBold"/>
              </a:defRPr>
            </a:lvl6pPr>
            <a:lvl7pPr lvl="6" algn="r" rtl="0">
              <a:spcBef>
                <a:spcPts val="0"/>
              </a:spcBef>
              <a:spcAft>
                <a:spcPts val="0"/>
              </a:spcAft>
              <a:buClr>
                <a:schemeClr val="dk1"/>
              </a:buClr>
              <a:buSzPts val="1100"/>
              <a:buFont typeface="Nunito Sans ExtraBold"/>
              <a:buNone/>
              <a:defRPr sz="1467" b="0">
                <a:solidFill>
                  <a:schemeClr val="dk1"/>
                </a:solidFill>
                <a:latin typeface="Nunito Sans ExtraBold"/>
                <a:ea typeface="Nunito Sans ExtraBold"/>
                <a:cs typeface="Nunito Sans ExtraBold"/>
                <a:sym typeface="Nunito Sans ExtraBold"/>
              </a:defRPr>
            </a:lvl7pPr>
            <a:lvl8pPr lvl="7" algn="r" rtl="0">
              <a:spcBef>
                <a:spcPts val="0"/>
              </a:spcBef>
              <a:spcAft>
                <a:spcPts val="0"/>
              </a:spcAft>
              <a:buClr>
                <a:schemeClr val="dk1"/>
              </a:buClr>
              <a:buSzPts val="1100"/>
              <a:buFont typeface="Nunito Sans ExtraBold"/>
              <a:buNone/>
              <a:defRPr sz="1467" b="0">
                <a:solidFill>
                  <a:schemeClr val="dk1"/>
                </a:solidFill>
                <a:latin typeface="Nunito Sans ExtraBold"/>
                <a:ea typeface="Nunito Sans ExtraBold"/>
                <a:cs typeface="Nunito Sans ExtraBold"/>
                <a:sym typeface="Nunito Sans ExtraBold"/>
              </a:defRPr>
            </a:lvl8pPr>
            <a:lvl9pPr lvl="8" algn="r" rtl="0">
              <a:spcBef>
                <a:spcPts val="0"/>
              </a:spcBef>
              <a:spcAft>
                <a:spcPts val="0"/>
              </a:spcAft>
              <a:buClr>
                <a:schemeClr val="dk1"/>
              </a:buClr>
              <a:buSzPts val="1100"/>
              <a:buFont typeface="Nunito Sans ExtraBold"/>
              <a:buNone/>
              <a:defRPr sz="1467" b="0">
                <a:solidFill>
                  <a:schemeClr val="dk1"/>
                </a:solidFill>
                <a:latin typeface="Nunito Sans ExtraBold"/>
                <a:ea typeface="Nunito Sans ExtraBold"/>
                <a:cs typeface="Nunito Sans ExtraBold"/>
                <a:sym typeface="Nunito Sans ExtraBold"/>
              </a:defRPr>
            </a:lvl9pPr>
          </a:lstStyle>
          <a:p>
            <a:endParaRPr/>
          </a:p>
        </p:txBody>
      </p:sp>
      <p:sp>
        <p:nvSpPr>
          <p:cNvPr id="92" name="Google Shape;92;p14"/>
          <p:cNvSpPr txBox="1">
            <a:spLocks noGrp="1"/>
          </p:cNvSpPr>
          <p:nvPr>
            <p:ph type="ctrTitle" idx="2"/>
          </p:nvPr>
        </p:nvSpPr>
        <p:spPr>
          <a:xfrm>
            <a:off x="5333259" y="3140713"/>
            <a:ext cx="4375200" cy="1070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100"/>
              <a:buFont typeface="Assistant ExtraLight"/>
              <a:buNone/>
              <a:defRPr sz="1467" b="0">
                <a:latin typeface="Assistant ExtraLight"/>
                <a:ea typeface="Assistant ExtraLight"/>
                <a:cs typeface="Assistant ExtraLight"/>
                <a:sym typeface="Assistant ExtraLight"/>
              </a:defRPr>
            </a:lvl1pPr>
            <a:lvl2pPr lvl="1" algn="r" rtl="0">
              <a:spcBef>
                <a:spcPts val="0"/>
              </a:spcBef>
              <a:spcAft>
                <a:spcPts val="0"/>
              </a:spcAft>
              <a:buSzPts val="1100"/>
              <a:buFont typeface="Assistant ExtraLight"/>
              <a:buNone/>
              <a:defRPr sz="1467" b="0">
                <a:latin typeface="Assistant ExtraLight"/>
                <a:ea typeface="Assistant ExtraLight"/>
                <a:cs typeface="Assistant ExtraLight"/>
                <a:sym typeface="Assistant ExtraLight"/>
              </a:defRPr>
            </a:lvl2pPr>
            <a:lvl3pPr lvl="2" algn="r" rtl="0">
              <a:spcBef>
                <a:spcPts val="0"/>
              </a:spcBef>
              <a:spcAft>
                <a:spcPts val="0"/>
              </a:spcAft>
              <a:buSzPts val="1100"/>
              <a:buFont typeface="Assistant ExtraLight"/>
              <a:buNone/>
              <a:defRPr sz="1467" b="0">
                <a:latin typeface="Assistant ExtraLight"/>
                <a:ea typeface="Assistant ExtraLight"/>
                <a:cs typeface="Assistant ExtraLight"/>
                <a:sym typeface="Assistant ExtraLight"/>
              </a:defRPr>
            </a:lvl3pPr>
            <a:lvl4pPr lvl="3" algn="r" rtl="0">
              <a:spcBef>
                <a:spcPts val="0"/>
              </a:spcBef>
              <a:spcAft>
                <a:spcPts val="0"/>
              </a:spcAft>
              <a:buSzPts val="1100"/>
              <a:buFont typeface="Assistant ExtraLight"/>
              <a:buNone/>
              <a:defRPr sz="1467" b="0">
                <a:latin typeface="Assistant ExtraLight"/>
                <a:ea typeface="Assistant ExtraLight"/>
                <a:cs typeface="Assistant ExtraLight"/>
                <a:sym typeface="Assistant ExtraLight"/>
              </a:defRPr>
            </a:lvl4pPr>
            <a:lvl5pPr lvl="4" algn="r" rtl="0">
              <a:spcBef>
                <a:spcPts val="0"/>
              </a:spcBef>
              <a:spcAft>
                <a:spcPts val="0"/>
              </a:spcAft>
              <a:buSzPts val="1100"/>
              <a:buFont typeface="Assistant ExtraLight"/>
              <a:buNone/>
              <a:defRPr sz="1467" b="0">
                <a:latin typeface="Assistant ExtraLight"/>
                <a:ea typeface="Assistant ExtraLight"/>
                <a:cs typeface="Assistant ExtraLight"/>
                <a:sym typeface="Assistant ExtraLight"/>
              </a:defRPr>
            </a:lvl5pPr>
            <a:lvl6pPr lvl="5" algn="r" rtl="0">
              <a:spcBef>
                <a:spcPts val="0"/>
              </a:spcBef>
              <a:spcAft>
                <a:spcPts val="0"/>
              </a:spcAft>
              <a:buSzPts val="1100"/>
              <a:buFont typeface="Assistant ExtraLight"/>
              <a:buNone/>
              <a:defRPr sz="1467" b="0">
                <a:latin typeface="Assistant ExtraLight"/>
                <a:ea typeface="Assistant ExtraLight"/>
                <a:cs typeface="Assistant ExtraLight"/>
                <a:sym typeface="Assistant ExtraLight"/>
              </a:defRPr>
            </a:lvl6pPr>
            <a:lvl7pPr lvl="6" algn="r" rtl="0">
              <a:spcBef>
                <a:spcPts val="0"/>
              </a:spcBef>
              <a:spcAft>
                <a:spcPts val="0"/>
              </a:spcAft>
              <a:buSzPts val="1100"/>
              <a:buFont typeface="Assistant ExtraLight"/>
              <a:buNone/>
              <a:defRPr sz="1467" b="0">
                <a:latin typeface="Assistant ExtraLight"/>
                <a:ea typeface="Assistant ExtraLight"/>
                <a:cs typeface="Assistant ExtraLight"/>
                <a:sym typeface="Assistant ExtraLight"/>
              </a:defRPr>
            </a:lvl7pPr>
            <a:lvl8pPr lvl="7" algn="r" rtl="0">
              <a:spcBef>
                <a:spcPts val="0"/>
              </a:spcBef>
              <a:spcAft>
                <a:spcPts val="0"/>
              </a:spcAft>
              <a:buSzPts val="1100"/>
              <a:buFont typeface="Assistant ExtraLight"/>
              <a:buNone/>
              <a:defRPr sz="1467" b="0">
                <a:latin typeface="Assistant ExtraLight"/>
                <a:ea typeface="Assistant ExtraLight"/>
                <a:cs typeface="Assistant ExtraLight"/>
                <a:sym typeface="Assistant ExtraLight"/>
              </a:defRPr>
            </a:lvl8pPr>
            <a:lvl9pPr lvl="8" algn="r" rtl="0">
              <a:spcBef>
                <a:spcPts val="0"/>
              </a:spcBef>
              <a:spcAft>
                <a:spcPts val="0"/>
              </a:spcAft>
              <a:buSzPts val="1100"/>
              <a:buFont typeface="Assistant ExtraLight"/>
              <a:buNone/>
              <a:defRPr sz="1467" b="0">
                <a:latin typeface="Assistant ExtraLight"/>
                <a:ea typeface="Assistant ExtraLight"/>
                <a:cs typeface="Assistant ExtraLight"/>
                <a:sym typeface="Assistant ExtraLight"/>
              </a:defRPr>
            </a:lvl9pPr>
          </a:lstStyle>
          <a:p>
            <a:endParaRPr/>
          </a:p>
        </p:txBody>
      </p:sp>
    </p:spTree>
    <p:extLst>
      <p:ext uri="{BB962C8B-B14F-4D97-AF65-F5344CB8AC3E}">
        <p14:creationId xmlns:p14="http://schemas.microsoft.com/office/powerpoint/2010/main" val="1956311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CEC732-0DE2-456B-92A1-84321C9BDC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s-ES" noProof="0" dirty="0"/>
              <a:t>Haga clic para modificar el estilo de título del patrón</a:t>
            </a:r>
          </a:p>
        </p:txBody>
      </p:sp>
      <p:sp>
        <p:nvSpPr>
          <p:cNvPr id="3" name="Marcador de posición de texto 2">
            <a:extLst>
              <a:ext uri="{FF2B5EF4-FFF2-40B4-BE49-F238E27FC236}">
                <a16:creationId xmlns:a16="http://schemas.microsoft.com/office/drawing/2014/main" id="{DA816A5B-B156-4DC3-B18E-14F3E59A64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Tree>
    <p:extLst>
      <p:ext uri="{BB962C8B-B14F-4D97-AF65-F5344CB8AC3E}">
        <p14:creationId xmlns:p14="http://schemas.microsoft.com/office/powerpoint/2010/main" val="3664101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3" r:id="rId10"/>
  </p:sldLayoutIdLst>
  <p:hf hdr="0" ftr="0" dt="0"/>
  <p:txStyles>
    <p:titleStyle>
      <a:lvl1pPr algn="l" defTabSz="914400" rtl="0" eaLnBrk="1" latinLnBrk="0" hangingPunct="1">
        <a:lnSpc>
          <a:spcPct val="90000"/>
        </a:lnSpc>
        <a:spcBef>
          <a:spcPct val="0"/>
        </a:spcBef>
        <a:buNone/>
        <a:defRPr sz="3200" b="1"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8.jpeg"/><Relationship Id="rId5" Type="http://schemas.openxmlformats.org/officeDocument/2006/relationships/image" Target="../media/image7.jp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hyperlink" Target="http://www.sondecomunicaciones.com/sgs/SGS2/PAUSAS-ACTIVAS/story.html" TargetMode="External"/><Relationship Id="rId5" Type="http://schemas.openxmlformats.org/officeDocument/2006/relationships/image" Target="../media/image6.jpe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7" Type="http://schemas.openxmlformats.org/officeDocument/2006/relationships/image" Target="../media/image12.jp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hyperlink" Target="http://www.sondecomunicaciones.com/sgs/SGS2/PAUSAS-ACTIVAS/story.html" TargetMode="External"/><Relationship Id="rId5" Type="http://schemas.openxmlformats.org/officeDocument/2006/relationships/image" Target="../media/image6.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9D8816B4-E769-7C3B-3941-32A3C7FEE81E}"/>
              </a:ext>
            </a:extLst>
          </p:cNvPr>
          <p:cNvSpPr/>
          <p:nvPr/>
        </p:nvSpPr>
        <p:spPr>
          <a:xfrm>
            <a:off x="0" y="940548"/>
            <a:ext cx="12191999" cy="5917452"/>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 name="Rectángulo 11">
            <a:extLst>
              <a:ext uri="{FF2B5EF4-FFF2-40B4-BE49-F238E27FC236}">
                <a16:creationId xmlns:a16="http://schemas.microsoft.com/office/drawing/2014/main" id="{3FDC8CE1-8A9C-5A05-4D1A-02C1BDB3573B}"/>
              </a:ext>
            </a:extLst>
          </p:cNvPr>
          <p:cNvSpPr/>
          <p:nvPr/>
        </p:nvSpPr>
        <p:spPr>
          <a:xfrm>
            <a:off x="11198789" y="6383826"/>
            <a:ext cx="889289" cy="390260"/>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objeto 3" descr="Personas con documentos">
            <a:extLst>
              <a:ext uri="{FF2B5EF4-FFF2-40B4-BE49-F238E27FC236}">
                <a16:creationId xmlns:a16="http://schemas.microsoft.com/office/drawing/2014/main" id="{34A1D01E-9154-7925-EAE6-0C7E35AA1AB0}"/>
              </a:ext>
            </a:extLst>
          </p:cNvPr>
          <p:cNvSpPr/>
          <p:nvPr/>
        </p:nvSpPr>
        <p:spPr>
          <a:xfrm>
            <a:off x="4110182" y="-6927"/>
            <a:ext cx="6984686" cy="6857979"/>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1">
              <a:alpha val="66000"/>
            </a:schemeClr>
          </a:solidFill>
        </p:spPr>
        <p:txBody>
          <a:bodyPr wrap="square" lIns="0" tIns="0" rIns="0" bIns="0" rtlCol="0"/>
          <a:lstStyle/>
          <a:p>
            <a:pPr rtl="0"/>
            <a:endParaRPr lang="es-ES" dirty="0"/>
          </a:p>
        </p:txBody>
      </p:sp>
      <p:sp>
        <p:nvSpPr>
          <p:cNvPr id="14" name="Rectángulo 13">
            <a:extLst>
              <a:ext uri="{FF2B5EF4-FFF2-40B4-BE49-F238E27FC236}">
                <a16:creationId xmlns:a16="http://schemas.microsoft.com/office/drawing/2014/main" id="{243127DC-DBFA-4660-8CDE-85259DF5CD25}"/>
              </a:ext>
            </a:extLst>
          </p:cNvPr>
          <p:cNvSpPr/>
          <p:nvPr/>
        </p:nvSpPr>
        <p:spPr>
          <a:xfrm>
            <a:off x="5215424" y="1875388"/>
            <a:ext cx="4613816" cy="15150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s-ES" sz="3200" b="1" dirty="0">
                <a:solidFill>
                  <a:srgbClr val="FFC000"/>
                </a:solidFill>
                <a:effectLst/>
                <a:latin typeface="Century Gothic" panose="020B0502020202020204" pitchFamily="34" charset="0"/>
                <a:ea typeface="Cambria" panose="02040503050406030204" pitchFamily="18" charset="0"/>
                <a:cs typeface="Cambria" panose="02040503050406030204" pitchFamily="18" charset="0"/>
              </a:rPr>
              <a:t>PROYECTO</a:t>
            </a:r>
            <a:r>
              <a:rPr lang="es-ES" sz="3200" b="1" dirty="0">
                <a:effectLst/>
                <a:latin typeface="Century Gothic" panose="020B0502020202020204" pitchFamily="34" charset="0"/>
                <a:ea typeface="Cambria" panose="02040503050406030204" pitchFamily="18" charset="0"/>
                <a:cs typeface="Cambria" panose="02040503050406030204" pitchFamily="18" charset="0"/>
              </a:rPr>
              <a:t> </a:t>
            </a:r>
          </a:p>
          <a:p>
            <a:pPr algn="ctr"/>
            <a:r>
              <a:rPr lang="es-ES" sz="3200" b="1" dirty="0">
                <a:effectLst/>
                <a:latin typeface="Century Gothic" panose="020B0502020202020204" pitchFamily="34" charset="0"/>
                <a:ea typeface="Cambria" panose="02040503050406030204" pitchFamily="18" charset="0"/>
                <a:cs typeface="Cambria" panose="02040503050406030204" pitchFamily="18" charset="0"/>
              </a:rPr>
              <a:t>MINERO ORO</a:t>
            </a:r>
          </a:p>
        </p:txBody>
      </p:sp>
      <p:sp>
        <p:nvSpPr>
          <p:cNvPr id="19" name="Text Box 16">
            <a:extLst>
              <a:ext uri="{FF2B5EF4-FFF2-40B4-BE49-F238E27FC236}">
                <a16:creationId xmlns:a16="http://schemas.microsoft.com/office/drawing/2014/main" id="{27D90E9B-2D4C-C9F0-50CA-9F65890DC4AE}"/>
              </a:ext>
            </a:extLst>
          </p:cNvPr>
          <p:cNvSpPr txBox="1">
            <a:spLocks noChangeArrowheads="1"/>
          </p:cNvSpPr>
          <p:nvPr/>
        </p:nvSpPr>
        <p:spPr bwMode="auto">
          <a:xfrm>
            <a:off x="6632776" y="6076870"/>
            <a:ext cx="16986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a:r>
              <a:rPr lang="pt-BR" altLang="en-US" b="1" dirty="0">
                <a:solidFill>
                  <a:schemeClr val="bg1"/>
                </a:solidFill>
              </a:rPr>
              <a:t>2025</a:t>
            </a:r>
            <a:endParaRPr lang="en-US" altLang="en-US" b="1" dirty="0">
              <a:solidFill>
                <a:schemeClr val="bg1"/>
              </a:solidFill>
            </a:endParaRPr>
          </a:p>
        </p:txBody>
      </p:sp>
      <p:sp>
        <p:nvSpPr>
          <p:cNvPr id="20" name="Text Box 16">
            <a:extLst>
              <a:ext uri="{FF2B5EF4-FFF2-40B4-BE49-F238E27FC236}">
                <a16:creationId xmlns:a16="http://schemas.microsoft.com/office/drawing/2014/main" id="{AE29CCF4-6C93-0CDA-7AF9-BC7A3A0D45DB}"/>
              </a:ext>
            </a:extLst>
          </p:cNvPr>
          <p:cNvSpPr txBox="1">
            <a:spLocks noChangeArrowheads="1"/>
          </p:cNvSpPr>
          <p:nvPr/>
        </p:nvSpPr>
        <p:spPr bwMode="auto">
          <a:xfrm>
            <a:off x="6002936" y="5271121"/>
            <a:ext cx="304181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a:r>
              <a:rPr lang="pt-BR" altLang="en-US" sz="1800" b="1" dirty="0"/>
              <a:t> </a:t>
            </a:r>
            <a:r>
              <a:rPr lang="pt-BR" altLang="en-US" sz="1800" dirty="0">
                <a:solidFill>
                  <a:schemeClr val="bg1"/>
                </a:solidFill>
              </a:rPr>
              <a:t>Provincia de Cotapaxi ECUADOR</a:t>
            </a:r>
            <a:endParaRPr lang="en-US" altLang="en-US" sz="1800" dirty="0">
              <a:solidFill>
                <a:schemeClr val="bg1"/>
              </a:solidFill>
            </a:endParaRPr>
          </a:p>
        </p:txBody>
      </p:sp>
      <p:pic>
        <p:nvPicPr>
          <p:cNvPr id="4" name="Imagen 3">
            <a:extLst>
              <a:ext uri="{FF2B5EF4-FFF2-40B4-BE49-F238E27FC236}">
                <a16:creationId xmlns:a16="http://schemas.microsoft.com/office/drawing/2014/main" id="{40A5BA50-F491-A792-F03F-FD843957398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4489" y="258379"/>
            <a:ext cx="1898384" cy="496380"/>
          </a:xfrm>
          <a:prstGeom prst="rect">
            <a:avLst/>
          </a:prstGeom>
        </p:spPr>
      </p:pic>
      <p:sp>
        <p:nvSpPr>
          <p:cNvPr id="11" name="Rectángulo 10">
            <a:extLst>
              <a:ext uri="{FF2B5EF4-FFF2-40B4-BE49-F238E27FC236}">
                <a16:creationId xmlns:a16="http://schemas.microsoft.com/office/drawing/2014/main" id="{8817E900-B930-F9E7-EBC1-512F0D44FBE6}"/>
              </a:ext>
            </a:extLst>
          </p:cNvPr>
          <p:cNvSpPr/>
          <p:nvPr/>
        </p:nvSpPr>
        <p:spPr>
          <a:xfrm>
            <a:off x="616805" y="3721376"/>
            <a:ext cx="4481762" cy="3005930"/>
          </a:xfrm>
          <a:prstGeom prst="rect">
            <a:avLst/>
          </a:prstGeom>
          <a:blipFill dpi="0" rotWithShape="1">
            <a:blip r:embed="rId6">
              <a:extLst>
                <a:ext uri="{28A0092B-C50C-407E-A947-70E740481C1C}">
                  <a14:useLocalDpi xmlns:a14="http://schemas.microsoft.com/office/drawing/2010/main" val="0"/>
                </a:ext>
              </a:extLst>
            </a:blip>
            <a:srcRect/>
            <a:stretch>
              <a:fillRect/>
            </a:stretch>
          </a:blipFill>
          <a:ln>
            <a:noFill/>
          </a:ln>
          <a:effectLst>
            <a:outerShdw blurRad="139700" dir="13200000" sy="23000" kx="-1200000" algn="bl" rotWithShape="0">
              <a:prstClr val="black">
                <a:alpha val="5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effectLst>
                <a:glow rad="228600">
                  <a:schemeClr val="accent2">
                    <a:satMod val="175000"/>
                    <a:alpha val="40000"/>
                  </a:schemeClr>
                </a:glow>
              </a:effectLst>
            </a:endParaRPr>
          </a:p>
        </p:txBody>
      </p:sp>
      <p:sp>
        <p:nvSpPr>
          <p:cNvPr id="13" name="Rectángulo 12">
            <a:extLst>
              <a:ext uri="{FF2B5EF4-FFF2-40B4-BE49-F238E27FC236}">
                <a16:creationId xmlns:a16="http://schemas.microsoft.com/office/drawing/2014/main" id="{2A00502D-075C-A4C4-8290-B922827D218E}"/>
              </a:ext>
            </a:extLst>
          </p:cNvPr>
          <p:cNvSpPr/>
          <p:nvPr/>
        </p:nvSpPr>
        <p:spPr>
          <a:xfrm>
            <a:off x="5868553" y="4168244"/>
            <a:ext cx="3874568" cy="338554"/>
          </a:xfrm>
          <a:prstGeom prst="rect">
            <a:avLst/>
          </a:prstGeom>
          <a:noFill/>
        </p:spPr>
        <p:txBody>
          <a:bodyPr wrap="square">
            <a:spAutoFit/>
            <a:scene3d>
              <a:camera prst="orthographicFront"/>
              <a:lightRig rig="soft" dir="t">
                <a:rot lat="0" lon="0" rev="15600000"/>
              </a:lightRig>
            </a:scene3d>
            <a:sp3d extrusionH="57150" prstMaterial="softEdge">
              <a:bevelT w="25400" h="38100"/>
            </a:sp3d>
          </a:bodyPr>
          <a:lstStyle/>
          <a:p>
            <a:pPr>
              <a:defRPr/>
            </a:pPr>
            <a:r>
              <a:rPr lang="es-MX" sz="1600" dirty="0">
                <a:solidFill>
                  <a:schemeClr val="bg1"/>
                </a:solidFill>
              </a:rPr>
              <a:t>“La riqueza de la Tierra a tu alcance”</a:t>
            </a:r>
            <a:endParaRPr lang="es-ES" dirty="0">
              <a:solidFill>
                <a:srgbClr val="CC6600"/>
              </a:solidFill>
            </a:endParaRPr>
          </a:p>
        </p:txBody>
      </p:sp>
      <p:sp>
        <p:nvSpPr>
          <p:cNvPr id="21" name="Rectángulo 20">
            <a:extLst>
              <a:ext uri="{FF2B5EF4-FFF2-40B4-BE49-F238E27FC236}">
                <a16:creationId xmlns:a16="http://schemas.microsoft.com/office/drawing/2014/main" id="{BAAF090C-DC14-1BB3-D47C-80EF296CD04F}"/>
              </a:ext>
            </a:extLst>
          </p:cNvPr>
          <p:cNvSpPr/>
          <p:nvPr/>
        </p:nvSpPr>
        <p:spPr>
          <a:xfrm>
            <a:off x="5671617" y="3340528"/>
            <a:ext cx="3620942" cy="584775"/>
          </a:xfrm>
          <a:prstGeom prst="rect">
            <a:avLst/>
          </a:prstGeom>
          <a:noFill/>
        </p:spPr>
        <p:txBody>
          <a:bodyPr wrap="square">
            <a:spAutoFit/>
            <a:scene3d>
              <a:camera prst="orthographicFront"/>
              <a:lightRig rig="soft" dir="t">
                <a:rot lat="0" lon="0" rev="15600000"/>
              </a:lightRig>
            </a:scene3d>
            <a:sp3d extrusionH="57150" prstMaterial="softEdge">
              <a:bevelT w="25400" h="38100"/>
            </a:sp3d>
          </a:bodyPr>
          <a:lstStyle/>
          <a:p>
            <a:pPr algn="ctr">
              <a:defRPr/>
            </a:pPr>
            <a:r>
              <a:rPr lang="es-MX" sz="1600" b="1" dirty="0">
                <a:solidFill>
                  <a:srgbClr val="FFC000"/>
                </a:solidFill>
              </a:rPr>
              <a:t>Exploración y Explotación de Oro </a:t>
            </a:r>
          </a:p>
          <a:p>
            <a:pPr algn="ctr">
              <a:defRPr/>
            </a:pPr>
            <a:r>
              <a:rPr lang="es-MX" sz="1600" b="1" dirty="0">
                <a:solidFill>
                  <a:srgbClr val="FFC000"/>
                </a:solidFill>
              </a:rPr>
              <a:t>y Minerales Polimetálicos</a:t>
            </a:r>
            <a:endParaRPr lang="es-ES" b="1" dirty="0">
              <a:solidFill>
                <a:srgbClr val="FFC000"/>
              </a:solidFill>
            </a:endParaRPr>
          </a:p>
        </p:txBody>
      </p:sp>
      <p:sp>
        <p:nvSpPr>
          <p:cNvPr id="24" name="objeto 3" descr="Personas con documentos">
            <a:extLst>
              <a:ext uri="{FF2B5EF4-FFF2-40B4-BE49-F238E27FC236}">
                <a16:creationId xmlns:a16="http://schemas.microsoft.com/office/drawing/2014/main" id="{392AA56D-9A4E-AF59-1530-E369A6145C5B}"/>
              </a:ext>
            </a:extLst>
          </p:cNvPr>
          <p:cNvSpPr/>
          <p:nvPr/>
        </p:nvSpPr>
        <p:spPr>
          <a:xfrm rot="16200000">
            <a:off x="-224836" y="2209208"/>
            <a:ext cx="1653629" cy="578133"/>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1">
              <a:alpha val="66000"/>
            </a:schemeClr>
          </a:solidFill>
        </p:spPr>
        <p:txBody>
          <a:bodyPr wrap="square" lIns="0" tIns="0" rIns="0" bIns="0" rtlCol="0"/>
          <a:lstStyle/>
          <a:p>
            <a:pPr rtl="0"/>
            <a:endParaRPr lang="es-ES" dirty="0"/>
          </a:p>
        </p:txBody>
      </p:sp>
      <p:sp>
        <p:nvSpPr>
          <p:cNvPr id="27" name="objeto 3" descr="Personas con documentos">
            <a:extLst>
              <a:ext uri="{FF2B5EF4-FFF2-40B4-BE49-F238E27FC236}">
                <a16:creationId xmlns:a16="http://schemas.microsoft.com/office/drawing/2014/main" id="{57FF784D-4664-A344-4A66-4270ACCE21CB}"/>
              </a:ext>
            </a:extLst>
          </p:cNvPr>
          <p:cNvSpPr/>
          <p:nvPr/>
        </p:nvSpPr>
        <p:spPr>
          <a:xfrm rot="16200000">
            <a:off x="-224838" y="3860905"/>
            <a:ext cx="1653629" cy="578133"/>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rgbClr val="FF9900">
              <a:alpha val="66000"/>
            </a:srgbClr>
          </a:solidFill>
        </p:spPr>
        <p:txBody>
          <a:bodyPr wrap="square" lIns="0" tIns="0" rIns="0" bIns="0" rtlCol="0"/>
          <a:lstStyle/>
          <a:p>
            <a:pPr rtl="0"/>
            <a:endParaRPr lang="es-ES" dirty="0"/>
          </a:p>
        </p:txBody>
      </p:sp>
      <p:sp>
        <p:nvSpPr>
          <p:cNvPr id="28" name="Cuadro de texto 2">
            <a:extLst>
              <a:ext uri="{FF2B5EF4-FFF2-40B4-BE49-F238E27FC236}">
                <a16:creationId xmlns:a16="http://schemas.microsoft.com/office/drawing/2014/main" id="{32C47FBE-FBF5-2BB6-32BE-CE7E48301C94}"/>
              </a:ext>
            </a:extLst>
          </p:cNvPr>
          <p:cNvSpPr txBox="1">
            <a:spLocks noChangeArrowheads="1"/>
          </p:cNvSpPr>
          <p:nvPr/>
        </p:nvSpPr>
        <p:spPr bwMode="auto">
          <a:xfrm>
            <a:off x="342563" y="1605431"/>
            <a:ext cx="548483" cy="3106826"/>
          </a:xfrm>
          <a:prstGeom prst="rect">
            <a:avLst/>
          </a:prstGeom>
          <a:noFill/>
          <a:ln w="9525">
            <a:noFill/>
            <a:miter lim="800000"/>
            <a:headEnd/>
            <a:tailEnd/>
          </a:ln>
        </p:spPr>
        <p:txBody>
          <a:bodyPr rot="0" vert="vert270" wrap="square" lIns="91440" tIns="45720" rIns="91440" bIns="45720" anchor="t" anchorCtr="0">
            <a:spAutoFit/>
          </a:bodyPr>
          <a:lstStyle/>
          <a:p>
            <a:pPr>
              <a:lnSpc>
                <a:spcPct val="115000"/>
              </a:lnSpc>
              <a:spcAft>
                <a:spcPts val="1000"/>
              </a:spcAft>
            </a:pPr>
            <a:r>
              <a:rPr lang="es-MX" sz="2200" dirty="0">
                <a:solidFill>
                  <a:srgbClr val="262626"/>
                </a:solidFill>
                <a:effectLst/>
                <a:latin typeface="Berlin Sans FB Demi" panose="020E0802020502020306" pitchFamily="34" charset="0"/>
                <a:ea typeface="Calibri" panose="020F0502020204030204" pitchFamily="34" charset="0"/>
                <a:cs typeface="Times New Roman" panose="02020603050405020304" pitchFamily="18" charset="0"/>
              </a:rPr>
              <a:t>RESUMEN</a:t>
            </a:r>
            <a:r>
              <a:rPr lang="es-MX" sz="2200" dirty="0">
                <a:solidFill>
                  <a:srgbClr val="003300"/>
                </a:solidFill>
                <a:effectLst/>
                <a:latin typeface="Berlin Sans FB Demi" panose="020E0802020502020306" pitchFamily="34" charset="0"/>
                <a:ea typeface="Calibri" panose="020F0502020204030204" pitchFamily="34" charset="0"/>
                <a:cs typeface="Times New Roman" panose="02020603050405020304" pitchFamily="18" charset="0"/>
              </a:rPr>
              <a:t>   </a:t>
            </a:r>
            <a:r>
              <a:rPr lang="es-MX" sz="2200" dirty="0">
                <a:solidFill>
                  <a:srgbClr val="FFC000"/>
                </a:solidFill>
                <a:effectLst/>
                <a:latin typeface="Berlin Sans FB Demi" panose="020E0802020502020306" pitchFamily="34" charset="0"/>
                <a:ea typeface="Calibri" panose="020F0502020204030204" pitchFamily="34" charset="0"/>
                <a:cs typeface="Times New Roman" panose="02020603050405020304" pitchFamily="18" charset="0"/>
              </a:rPr>
              <a:t>EJECUTIVO</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93556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5C5720-51D4-4632-91CD-936B8AB96750}"/>
              </a:ext>
            </a:extLst>
          </p:cNvPr>
          <p:cNvSpPr>
            <a:spLocks noGrp="1"/>
          </p:cNvSpPr>
          <p:nvPr>
            <p:ph type="title"/>
          </p:nvPr>
        </p:nvSpPr>
        <p:spPr>
          <a:xfrm>
            <a:off x="3801983" y="700993"/>
            <a:ext cx="4906367" cy="482475"/>
          </a:xfrm>
        </p:spPr>
        <p:txBody>
          <a:bodyPr rtlCol="0">
            <a:normAutofit/>
          </a:bodyPr>
          <a:lstStyle/>
          <a:p>
            <a:pPr rtl="0"/>
            <a:r>
              <a:rPr lang="es-ES" sz="2400" dirty="0">
                <a:solidFill>
                  <a:schemeClr val="tx1">
                    <a:lumMod val="65000"/>
                    <a:lumOff val="35000"/>
                  </a:schemeClr>
                </a:solidFill>
                <a:latin typeface="Arial "/>
              </a:rPr>
              <a:t>PROYECTO MINERO ZARA</a:t>
            </a:r>
          </a:p>
        </p:txBody>
      </p:sp>
      <p:grpSp>
        <p:nvGrpSpPr>
          <p:cNvPr id="27" name="Grupo 26">
            <a:extLst>
              <a:ext uri="{FF2B5EF4-FFF2-40B4-BE49-F238E27FC236}">
                <a16:creationId xmlns:a16="http://schemas.microsoft.com/office/drawing/2014/main" id="{3195D6CC-E5AF-BF41-B84B-1C8397173B10}"/>
              </a:ext>
            </a:extLst>
          </p:cNvPr>
          <p:cNvGrpSpPr/>
          <p:nvPr/>
        </p:nvGrpSpPr>
        <p:grpSpPr>
          <a:xfrm>
            <a:off x="573934" y="1749501"/>
            <a:ext cx="10577358" cy="766040"/>
            <a:chOff x="613442" y="1399794"/>
            <a:chExt cx="6624000" cy="766040"/>
          </a:xfrm>
        </p:grpSpPr>
        <p:sp>
          <p:nvSpPr>
            <p:cNvPr id="26" name="CuadroTexto 25">
              <a:extLst>
                <a:ext uri="{FF2B5EF4-FFF2-40B4-BE49-F238E27FC236}">
                  <a16:creationId xmlns:a16="http://schemas.microsoft.com/office/drawing/2014/main" id="{52284D81-FA1A-1F45-0537-43B1DF4B009A}"/>
                </a:ext>
              </a:extLst>
            </p:cNvPr>
            <p:cNvSpPr txBox="1"/>
            <p:nvPr/>
          </p:nvSpPr>
          <p:spPr>
            <a:xfrm>
              <a:off x="613442" y="1399794"/>
              <a:ext cx="6624000" cy="600164"/>
            </a:xfrm>
            <a:prstGeom prst="rect">
              <a:avLst/>
            </a:prstGeom>
            <a:noFill/>
          </p:spPr>
          <p:txBody>
            <a:bodyPr wrap="square">
              <a:spAutoFit/>
            </a:bodyPr>
            <a:lstStyle/>
            <a:p>
              <a:pPr algn="just"/>
              <a:r>
                <a:rPr lang="es-MX" sz="1100" spc="-25" dirty="0">
                  <a:latin typeface="Arial"/>
                  <a:cs typeface="Arial"/>
                </a:rPr>
                <a:t>El Proyecto Zara se sitúa en una región con alto potencial geológico para la minería metálica, avalado por estudios previos y análisis de laboratorio que indican concentraciones significativas de oro (hasta 208 g/t), así como presencia de cobre, plata y tierras raras. La zona limita con proyectos reconocidos como La Plata, Valle Rico y VMP, lo que incrementa el atractivo geológico del área.</a:t>
              </a:r>
              <a:endParaRPr lang="es-PE" sz="1100" spc="-25" dirty="0">
                <a:latin typeface="Arial"/>
                <a:cs typeface="Arial"/>
              </a:endParaRPr>
            </a:p>
          </p:txBody>
        </p:sp>
        <p:sp>
          <p:nvSpPr>
            <p:cNvPr id="22" name="objeto 9" descr="Rectángulo beige">
              <a:extLst>
                <a:ext uri="{FF2B5EF4-FFF2-40B4-BE49-F238E27FC236}">
                  <a16:creationId xmlns:a16="http://schemas.microsoft.com/office/drawing/2014/main" id="{880052A0-3CE5-0288-7085-C163F12B1FB9}"/>
                </a:ext>
              </a:extLst>
            </p:cNvPr>
            <p:cNvSpPr/>
            <p:nvPr/>
          </p:nvSpPr>
          <p:spPr>
            <a:xfrm>
              <a:off x="683617" y="2165834"/>
              <a:ext cx="6515436" cy="0"/>
            </a:xfrm>
            <a:custGeom>
              <a:avLst/>
              <a:gdLst/>
              <a:ahLst/>
              <a:cxnLst/>
              <a:rect l="l" t="t" r="r" b="b"/>
              <a:pathLst>
                <a:path w="2642870">
                  <a:moveTo>
                    <a:pt x="0" y="0"/>
                  </a:moveTo>
                  <a:lnTo>
                    <a:pt x="2642616" y="0"/>
                  </a:lnTo>
                </a:path>
              </a:pathLst>
            </a:custGeom>
            <a:ln w="54863">
              <a:solidFill>
                <a:srgbClr val="FFD101"/>
              </a:solidFill>
            </a:ln>
          </p:spPr>
          <p:txBody>
            <a:bodyPr wrap="square" lIns="0" tIns="0" rIns="0" bIns="0" rtlCol="0"/>
            <a:lstStyle/>
            <a:p>
              <a:pPr rtl="0"/>
              <a:endParaRPr lang="es-ES" dirty="0"/>
            </a:p>
          </p:txBody>
        </p:sp>
      </p:grpSp>
      <p:pic>
        <p:nvPicPr>
          <p:cNvPr id="39" name="Imagen 38">
            <a:extLst>
              <a:ext uri="{FF2B5EF4-FFF2-40B4-BE49-F238E27FC236}">
                <a16:creationId xmlns:a16="http://schemas.microsoft.com/office/drawing/2014/main" id="{3295A352-4681-2D44-763D-3D1514C02E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363" y="79239"/>
            <a:ext cx="1229206" cy="349207"/>
          </a:xfrm>
          <a:prstGeom prst="rect">
            <a:avLst/>
          </a:prstGeom>
        </p:spPr>
      </p:pic>
      <p:grpSp>
        <p:nvGrpSpPr>
          <p:cNvPr id="20" name="Grupo 19">
            <a:extLst>
              <a:ext uri="{FF2B5EF4-FFF2-40B4-BE49-F238E27FC236}">
                <a16:creationId xmlns:a16="http://schemas.microsoft.com/office/drawing/2014/main" id="{E24353EC-8D5A-9F87-37E1-6A0A1A8E19E3}"/>
              </a:ext>
            </a:extLst>
          </p:cNvPr>
          <p:cNvGrpSpPr/>
          <p:nvPr/>
        </p:nvGrpSpPr>
        <p:grpSpPr>
          <a:xfrm>
            <a:off x="1" y="6469281"/>
            <a:ext cx="12191999" cy="396000"/>
            <a:chOff x="0" y="6034550"/>
            <a:chExt cx="12191999" cy="396000"/>
          </a:xfrm>
        </p:grpSpPr>
        <p:sp>
          <p:nvSpPr>
            <p:cNvPr id="9" name="Rectángulo 8">
              <a:extLst>
                <a:ext uri="{FF2B5EF4-FFF2-40B4-BE49-F238E27FC236}">
                  <a16:creationId xmlns:a16="http://schemas.microsoft.com/office/drawing/2014/main" id="{39E0EC1B-808A-6728-2E34-7E63CEE5CB1C}"/>
                </a:ext>
              </a:extLst>
            </p:cNvPr>
            <p:cNvSpPr/>
            <p:nvPr/>
          </p:nvSpPr>
          <p:spPr>
            <a:xfrm>
              <a:off x="0" y="6034550"/>
              <a:ext cx="12191999" cy="396000"/>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9">
              <a:extLst>
                <a:ext uri="{FF2B5EF4-FFF2-40B4-BE49-F238E27FC236}">
                  <a16:creationId xmlns:a16="http://schemas.microsoft.com/office/drawing/2014/main" id="{FD7AD074-BC56-D8CE-13D1-937B306B6998}"/>
                </a:ext>
              </a:extLst>
            </p:cNvPr>
            <p:cNvSpPr/>
            <p:nvPr/>
          </p:nvSpPr>
          <p:spPr>
            <a:xfrm>
              <a:off x="697589" y="6034550"/>
              <a:ext cx="120073" cy="3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 name="Rectángulo 10">
              <a:extLst>
                <a:ext uri="{FF2B5EF4-FFF2-40B4-BE49-F238E27FC236}">
                  <a16:creationId xmlns:a16="http://schemas.microsoft.com/office/drawing/2014/main" id="{F7BA2DA2-C7EF-E294-67FE-4962188552EC}"/>
                </a:ext>
              </a:extLst>
            </p:cNvPr>
            <p:cNvSpPr/>
            <p:nvPr/>
          </p:nvSpPr>
          <p:spPr>
            <a:xfrm>
              <a:off x="978096" y="6034550"/>
              <a:ext cx="120073" cy="3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 name="Rectángulo 11">
              <a:extLst>
                <a:ext uri="{FF2B5EF4-FFF2-40B4-BE49-F238E27FC236}">
                  <a16:creationId xmlns:a16="http://schemas.microsoft.com/office/drawing/2014/main" id="{61205FB1-8EC7-D34A-47F9-997FDE1F96C7}"/>
                </a:ext>
              </a:extLst>
            </p:cNvPr>
            <p:cNvSpPr/>
            <p:nvPr/>
          </p:nvSpPr>
          <p:spPr>
            <a:xfrm>
              <a:off x="1258603" y="6034550"/>
              <a:ext cx="120073" cy="3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Rectángulo 16">
              <a:extLst>
                <a:ext uri="{FF2B5EF4-FFF2-40B4-BE49-F238E27FC236}">
                  <a16:creationId xmlns:a16="http://schemas.microsoft.com/office/drawing/2014/main" id="{44604FD4-2662-F965-93AC-A10DC6B3A5CD}"/>
                </a:ext>
              </a:extLst>
            </p:cNvPr>
            <p:cNvSpPr/>
            <p:nvPr/>
          </p:nvSpPr>
          <p:spPr>
            <a:xfrm>
              <a:off x="1539111" y="6034550"/>
              <a:ext cx="120073" cy="3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grpSp>
        <p:nvGrpSpPr>
          <p:cNvPr id="16" name="Grupo 15">
            <a:extLst>
              <a:ext uri="{FF2B5EF4-FFF2-40B4-BE49-F238E27FC236}">
                <a16:creationId xmlns:a16="http://schemas.microsoft.com/office/drawing/2014/main" id="{240260AD-9851-5B95-33C7-1B8906A1918E}"/>
              </a:ext>
            </a:extLst>
          </p:cNvPr>
          <p:cNvGrpSpPr/>
          <p:nvPr/>
        </p:nvGrpSpPr>
        <p:grpSpPr>
          <a:xfrm>
            <a:off x="3052583" y="3429000"/>
            <a:ext cx="5395709" cy="1908215"/>
            <a:chOff x="3117617" y="3522031"/>
            <a:chExt cx="5395709" cy="1908215"/>
          </a:xfrm>
        </p:grpSpPr>
        <p:sp>
          <p:nvSpPr>
            <p:cNvPr id="29" name="CuadroTexto 28">
              <a:extLst>
                <a:ext uri="{FF2B5EF4-FFF2-40B4-BE49-F238E27FC236}">
                  <a16:creationId xmlns:a16="http://schemas.microsoft.com/office/drawing/2014/main" id="{B4F10C91-EA23-B060-2C5E-EC2E55D1E5B0}"/>
                </a:ext>
              </a:extLst>
            </p:cNvPr>
            <p:cNvSpPr txBox="1"/>
            <p:nvPr/>
          </p:nvSpPr>
          <p:spPr>
            <a:xfrm>
              <a:off x="3117617" y="3522031"/>
              <a:ext cx="5395709" cy="1908215"/>
            </a:xfrm>
            <a:prstGeom prst="rect">
              <a:avLst/>
            </a:prstGeom>
            <a:noFill/>
          </p:spPr>
          <p:txBody>
            <a:bodyPr wrap="square">
              <a:spAutoFit/>
            </a:bodyPr>
            <a:lstStyle/>
            <a:p>
              <a:endParaRPr lang="es-MX" sz="1000" spc="-25" dirty="0">
                <a:solidFill>
                  <a:srgbClr val="073478"/>
                </a:solidFill>
                <a:latin typeface="Arial"/>
                <a:cs typeface="Arial"/>
              </a:endParaRPr>
            </a:p>
            <a:p>
              <a:pPr marL="285750" indent="-285750">
                <a:buFont typeface="Arial" panose="020B0604020202020204" pitchFamily="34" charset="0"/>
                <a:buChar char="•"/>
              </a:pPr>
              <a:r>
                <a:rPr lang="es-MX" sz="1300" spc="-25" dirty="0">
                  <a:latin typeface="Arial"/>
                  <a:cs typeface="Arial"/>
                </a:rPr>
                <a:t>Ubicación: Cantón Sigchos, Provincia de Cotopaxi, Ecuador.</a:t>
              </a:r>
            </a:p>
            <a:p>
              <a:pPr marL="285750" indent="-285750">
                <a:buFont typeface="Arial" panose="020B0604020202020204" pitchFamily="34" charset="0"/>
                <a:buChar char="•"/>
              </a:pPr>
              <a:endParaRPr lang="es-MX" sz="600" spc="-25" dirty="0">
                <a:latin typeface="Arial"/>
                <a:cs typeface="Arial"/>
              </a:endParaRPr>
            </a:p>
            <a:p>
              <a:pPr marL="285750" indent="-285750">
                <a:buFont typeface="Arial" panose="020B0604020202020204" pitchFamily="34" charset="0"/>
                <a:buChar char="•"/>
              </a:pPr>
              <a:r>
                <a:rPr lang="es-MX" sz="1300" spc="-25" dirty="0">
                  <a:latin typeface="Arial"/>
                  <a:cs typeface="Arial"/>
                </a:rPr>
                <a:t>Propietario: Socio de la empresa S.A.</a:t>
              </a:r>
            </a:p>
            <a:p>
              <a:pPr marL="285750" indent="-285750">
                <a:buFont typeface="Arial" panose="020B0604020202020204" pitchFamily="34" charset="0"/>
                <a:buChar char="•"/>
              </a:pPr>
              <a:endParaRPr lang="es-MX" sz="600" spc="-25" dirty="0">
                <a:latin typeface="Arial"/>
                <a:cs typeface="Arial"/>
              </a:endParaRPr>
            </a:p>
            <a:p>
              <a:pPr marL="285750" indent="-285750">
                <a:buFont typeface="Arial" panose="020B0604020202020204" pitchFamily="34" charset="0"/>
                <a:buChar char="•"/>
              </a:pPr>
              <a:r>
                <a:rPr lang="es-MX" sz="1300" spc="-25" dirty="0">
                  <a:latin typeface="Arial"/>
                  <a:cs typeface="Arial"/>
                </a:rPr>
                <a:t>Superficie: 21,585 hectáreas de propiedad privada</a:t>
              </a:r>
            </a:p>
            <a:p>
              <a:pPr marL="285750" indent="-285750">
                <a:buFont typeface="Arial" panose="020B0604020202020204" pitchFamily="34" charset="0"/>
                <a:buChar char="•"/>
              </a:pPr>
              <a:endParaRPr lang="es-MX" sz="600" spc="-25" dirty="0">
                <a:latin typeface="Arial"/>
                <a:cs typeface="Arial"/>
              </a:endParaRPr>
            </a:p>
            <a:p>
              <a:pPr marL="285750" indent="-285750">
                <a:buFont typeface="Arial" panose="020B0604020202020204" pitchFamily="34" charset="0"/>
                <a:buChar char="•"/>
              </a:pPr>
              <a:r>
                <a:rPr lang="es-MX" sz="1300" spc="-25" dirty="0">
                  <a:latin typeface="Arial"/>
                  <a:cs typeface="Arial"/>
                </a:rPr>
                <a:t>Altitud: Entre 800 y 3.600 msnm</a:t>
              </a:r>
            </a:p>
            <a:p>
              <a:endParaRPr lang="es-MX" sz="600" spc="-25" dirty="0">
                <a:latin typeface="Arial"/>
                <a:cs typeface="Arial"/>
              </a:endParaRPr>
            </a:p>
            <a:p>
              <a:pPr marL="285750" indent="-285750">
                <a:buFont typeface="Arial" panose="020B0604020202020204" pitchFamily="34" charset="0"/>
                <a:buChar char="•"/>
              </a:pPr>
              <a:r>
                <a:rPr lang="es-MX" sz="1300" spc="-25" dirty="0">
                  <a:latin typeface="Arial"/>
                  <a:cs typeface="Arial"/>
                </a:rPr>
                <a:t>Acceso: A 3 horas desde Quito y 5 horas desde Guayaquil</a:t>
              </a:r>
            </a:p>
            <a:p>
              <a:pPr marL="285750" indent="-285750">
                <a:buFont typeface="Arial" panose="020B0604020202020204" pitchFamily="34" charset="0"/>
                <a:buChar char="•"/>
              </a:pPr>
              <a:endParaRPr lang="es-MX" sz="600" spc="-25" dirty="0">
                <a:latin typeface="Arial"/>
                <a:cs typeface="Arial"/>
              </a:endParaRPr>
            </a:p>
            <a:p>
              <a:pPr marL="285750" indent="-285750">
                <a:buFont typeface="Arial" panose="020B0604020202020204" pitchFamily="34" charset="0"/>
                <a:buChar char="•"/>
              </a:pPr>
              <a:r>
                <a:rPr lang="es-MX" sz="1300" spc="-25" dirty="0">
                  <a:latin typeface="Arial"/>
                  <a:cs typeface="Arial"/>
                </a:rPr>
                <a:t>Clima: Subtropical (15 °C – 25 °C)</a:t>
              </a:r>
            </a:p>
          </p:txBody>
        </p:sp>
        <p:sp>
          <p:nvSpPr>
            <p:cNvPr id="31" name="Google Shape;7555;p53">
              <a:extLst>
                <a:ext uri="{FF2B5EF4-FFF2-40B4-BE49-F238E27FC236}">
                  <a16:creationId xmlns:a16="http://schemas.microsoft.com/office/drawing/2014/main" id="{3A7252E3-F8BA-842B-E8EB-4B7B19EEBBC8}"/>
                </a:ext>
              </a:extLst>
            </p:cNvPr>
            <p:cNvSpPr/>
            <p:nvPr/>
          </p:nvSpPr>
          <p:spPr>
            <a:xfrm rot="16200000">
              <a:off x="3182843" y="3742087"/>
              <a:ext cx="216000" cy="180000"/>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blipFill dpi="0" rotWithShape="1">
              <a:blip r:embed="rId5">
                <a:extLst>
                  <a:ext uri="{28A0092B-C50C-407E-A947-70E740481C1C}">
                    <a14:useLocalDpi xmlns:a14="http://schemas.microsoft.com/office/drawing/2010/main" val="0"/>
                  </a:ext>
                </a:extLst>
              </a:blip>
              <a:srcRect/>
              <a:stretch>
                <a:fillRect/>
              </a:stretch>
            </a:blip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7555;p53">
              <a:extLst>
                <a:ext uri="{FF2B5EF4-FFF2-40B4-BE49-F238E27FC236}">
                  <a16:creationId xmlns:a16="http://schemas.microsoft.com/office/drawing/2014/main" id="{E3F9ED86-F816-6E92-DA3A-C9209F8193F4}"/>
                </a:ext>
              </a:extLst>
            </p:cNvPr>
            <p:cNvSpPr/>
            <p:nvPr/>
          </p:nvSpPr>
          <p:spPr>
            <a:xfrm rot="16200000">
              <a:off x="3182843" y="4027857"/>
              <a:ext cx="216000" cy="180000"/>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blipFill dpi="0" rotWithShape="1">
              <a:blip r:embed="rId5">
                <a:extLst>
                  <a:ext uri="{28A0092B-C50C-407E-A947-70E740481C1C}">
                    <a14:useLocalDpi xmlns:a14="http://schemas.microsoft.com/office/drawing/2010/main" val="0"/>
                  </a:ext>
                </a:extLst>
              </a:blip>
              <a:srcRect/>
              <a:stretch>
                <a:fillRect/>
              </a:stretch>
            </a:blip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555;p53">
              <a:extLst>
                <a:ext uri="{FF2B5EF4-FFF2-40B4-BE49-F238E27FC236}">
                  <a16:creationId xmlns:a16="http://schemas.microsoft.com/office/drawing/2014/main" id="{23BF75B8-8461-E515-ED1A-3C48986A01CF}"/>
                </a:ext>
              </a:extLst>
            </p:cNvPr>
            <p:cNvSpPr/>
            <p:nvPr/>
          </p:nvSpPr>
          <p:spPr>
            <a:xfrm rot="16200000">
              <a:off x="3182843" y="4313627"/>
              <a:ext cx="216000" cy="180000"/>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blipFill dpi="0" rotWithShape="1">
              <a:blip r:embed="rId5">
                <a:extLst>
                  <a:ext uri="{28A0092B-C50C-407E-A947-70E740481C1C}">
                    <a14:useLocalDpi xmlns:a14="http://schemas.microsoft.com/office/drawing/2010/main" val="0"/>
                  </a:ext>
                </a:extLst>
              </a:blip>
              <a:srcRect/>
              <a:stretch>
                <a:fillRect/>
              </a:stretch>
            </a:blip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555;p53">
              <a:extLst>
                <a:ext uri="{FF2B5EF4-FFF2-40B4-BE49-F238E27FC236}">
                  <a16:creationId xmlns:a16="http://schemas.microsoft.com/office/drawing/2014/main" id="{010D0E42-6E3D-5214-0CCC-6AD4FB2D7CE8}"/>
                </a:ext>
              </a:extLst>
            </p:cNvPr>
            <p:cNvSpPr/>
            <p:nvPr/>
          </p:nvSpPr>
          <p:spPr>
            <a:xfrm rot="16200000">
              <a:off x="3182843" y="4599397"/>
              <a:ext cx="216000" cy="180000"/>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blipFill dpi="0" rotWithShape="1">
              <a:blip r:embed="rId5">
                <a:extLst>
                  <a:ext uri="{28A0092B-C50C-407E-A947-70E740481C1C}">
                    <a14:useLocalDpi xmlns:a14="http://schemas.microsoft.com/office/drawing/2010/main" val="0"/>
                  </a:ext>
                </a:extLst>
              </a:blip>
              <a:srcRect/>
              <a:stretch>
                <a:fillRect/>
              </a:stretch>
            </a:blip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555;p53">
              <a:extLst>
                <a:ext uri="{FF2B5EF4-FFF2-40B4-BE49-F238E27FC236}">
                  <a16:creationId xmlns:a16="http://schemas.microsoft.com/office/drawing/2014/main" id="{3838EBEF-F7E8-DDF5-33F0-CED0BDE91819}"/>
                </a:ext>
              </a:extLst>
            </p:cNvPr>
            <p:cNvSpPr/>
            <p:nvPr/>
          </p:nvSpPr>
          <p:spPr>
            <a:xfrm rot="16200000">
              <a:off x="3182843" y="4885167"/>
              <a:ext cx="216000" cy="180000"/>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blipFill dpi="0" rotWithShape="1">
              <a:blip r:embed="rId5">
                <a:extLst>
                  <a:ext uri="{28A0092B-C50C-407E-A947-70E740481C1C}">
                    <a14:useLocalDpi xmlns:a14="http://schemas.microsoft.com/office/drawing/2010/main" val="0"/>
                  </a:ext>
                </a:extLst>
              </a:blip>
              <a:srcRect/>
              <a:stretch>
                <a:fillRect/>
              </a:stretch>
            </a:blip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555;p53">
              <a:extLst>
                <a:ext uri="{FF2B5EF4-FFF2-40B4-BE49-F238E27FC236}">
                  <a16:creationId xmlns:a16="http://schemas.microsoft.com/office/drawing/2014/main" id="{920F00A6-0DDA-B059-1846-A3D795A25EF4}"/>
                </a:ext>
              </a:extLst>
            </p:cNvPr>
            <p:cNvSpPr/>
            <p:nvPr/>
          </p:nvSpPr>
          <p:spPr>
            <a:xfrm rot="16200000">
              <a:off x="3182843" y="5170939"/>
              <a:ext cx="216000" cy="180000"/>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blipFill dpi="0" rotWithShape="1">
              <a:blip r:embed="rId5">
                <a:extLst>
                  <a:ext uri="{28A0092B-C50C-407E-A947-70E740481C1C}">
                    <a14:useLocalDpi xmlns:a14="http://schemas.microsoft.com/office/drawing/2010/main" val="0"/>
                  </a:ext>
                </a:extLst>
              </a:blip>
              <a:srcRect/>
              <a:stretch>
                <a:fillRect/>
              </a:stretch>
            </a:blip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rupo 33">
            <a:extLst>
              <a:ext uri="{FF2B5EF4-FFF2-40B4-BE49-F238E27FC236}">
                <a16:creationId xmlns:a16="http://schemas.microsoft.com/office/drawing/2014/main" id="{E6C292B5-C14A-7F86-AF99-C64C1D465B85}"/>
              </a:ext>
            </a:extLst>
          </p:cNvPr>
          <p:cNvGrpSpPr/>
          <p:nvPr/>
        </p:nvGrpSpPr>
        <p:grpSpPr>
          <a:xfrm>
            <a:off x="852148" y="3563102"/>
            <a:ext cx="1494000" cy="1476000"/>
            <a:chOff x="852148" y="3778557"/>
            <a:chExt cx="1494000" cy="1476000"/>
          </a:xfrm>
        </p:grpSpPr>
        <p:sp>
          <p:nvSpPr>
            <p:cNvPr id="18" name="Elipse 17">
              <a:extLst>
                <a:ext uri="{FF2B5EF4-FFF2-40B4-BE49-F238E27FC236}">
                  <a16:creationId xmlns:a16="http://schemas.microsoft.com/office/drawing/2014/main" id="{4CF07CBE-53A6-4553-7E8C-7831D211C519}"/>
                </a:ext>
              </a:extLst>
            </p:cNvPr>
            <p:cNvSpPr/>
            <p:nvPr/>
          </p:nvSpPr>
          <p:spPr>
            <a:xfrm>
              <a:off x="852148" y="3778557"/>
              <a:ext cx="1494000" cy="1476000"/>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9" name="Imagen 1">
              <a:extLst>
                <a:ext uri="{FF2B5EF4-FFF2-40B4-BE49-F238E27FC236}">
                  <a16:creationId xmlns:a16="http://schemas.microsoft.com/office/drawing/2014/main" id="{4A766DB6-6BB7-582B-397E-5FB308738D1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97148" y="3832087"/>
              <a:ext cx="1404000" cy="1384861"/>
            </a:xfrm>
            <a:prstGeom prst="ellipse">
              <a:avLst/>
            </a:prstGeom>
            <a:noFill/>
            <a:ln w="9525">
              <a:solidFill>
                <a:srgbClr val="FFC000"/>
              </a:solidFill>
              <a:miter lim="800000"/>
              <a:headEnd/>
              <a:tailEnd/>
            </a:ln>
            <a:extLst>
              <a:ext uri="{909E8E84-426E-40DD-AFC4-6F175D3DCCD1}">
                <a14:hiddenFill xmlns:a14="http://schemas.microsoft.com/office/drawing/2010/main">
                  <a:solidFill>
                    <a:srgbClr val="FFFFFF"/>
                  </a:solidFill>
                </a14:hiddenFill>
              </a:ext>
            </a:extLst>
          </p:spPr>
        </p:pic>
        <p:sp>
          <p:nvSpPr>
            <p:cNvPr id="24" name="Elipse 23">
              <a:extLst>
                <a:ext uri="{FF2B5EF4-FFF2-40B4-BE49-F238E27FC236}">
                  <a16:creationId xmlns:a16="http://schemas.microsoft.com/office/drawing/2014/main" id="{594DA962-5A26-4AD9-201B-7EE1B2FA5652}"/>
                </a:ext>
              </a:extLst>
            </p:cNvPr>
            <p:cNvSpPr/>
            <p:nvPr/>
          </p:nvSpPr>
          <p:spPr>
            <a:xfrm>
              <a:off x="897148" y="3812948"/>
              <a:ext cx="1404000" cy="1404000"/>
            </a:xfrm>
            <a:prstGeom prst="ellipse">
              <a:avLst/>
            </a:prstGeom>
            <a:blipFill dpi="0" rotWithShape="1">
              <a:blip r:embed="rId7">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
        <p:nvSpPr>
          <p:cNvPr id="5" name="CuadroTexto 4">
            <a:extLst>
              <a:ext uri="{FF2B5EF4-FFF2-40B4-BE49-F238E27FC236}">
                <a16:creationId xmlns:a16="http://schemas.microsoft.com/office/drawing/2014/main" id="{07F58E5A-C34E-467D-FEC6-6F03B5DAFE3A}"/>
              </a:ext>
            </a:extLst>
          </p:cNvPr>
          <p:cNvSpPr txBox="1"/>
          <p:nvPr/>
        </p:nvSpPr>
        <p:spPr>
          <a:xfrm>
            <a:off x="3052582" y="3181778"/>
            <a:ext cx="5395709" cy="292388"/>
          </a:xfrm>
          <a:prstGeom prst="rect">
            <a:avLst/>
          </a:prstGeom>
          <a:noFill/>
        </p:spPr>
        <p:txBody>
          <a:bodyPr wrap="square">
            <a:spAutoFit/>
          </a:bodyPr>
          <a:lstStyle/>
          <a:p>
            <a:r>
              <a:rPr lang="es-MX" sz="1300" spc="-25" dirty="0">
                <a:latin typeface="Arial"/>
                <a:cs typeface="Arial"/>
              </a:rPr>
              <a:t>Información del área del yacimiento (Propiedad Privada)</a:t>
            </a:r>
          </a:p>
        </p:txBody>
      </p:sp>
      <p:pic>
        <p:nvPicPr>
          <p:cNvPr id="33" name="Imagen 32">
            <a:extLst>
              <a:ext uri="{FF2B5EF4-FFF2-40B4-BE49-F238E27FC236}">
                <a16:creationId xmlns:a16="http://schemas.microsoft.com/office/drawing/2014/main" id="{F5FD8308-6CF2-DB8A-3DDB-23E225CE2D56}"/>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258946" y="3304844"/>
            <a:ext cx="3286293" cy="1992516"/>
          </a:xfrm>
          <a:prstGeom prst="rect">
            <a:avLst/>
          </a:prstGeom>
          <a:noFill/>
        </p:spPr>
      </p:pic>
    </p:spTree>
    <p:extLst>
      <p:ext uri="{BB962C8B-B14F-4D97-AF65-F5344CB8AC3E}">
        <p14:creationId xmlns:p14="http://schemas.microsoft.com/office/powerpoint/2010/main" val="679985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objeto 3" descr="Personas con documentos">
            <a:extLst>
              <a:ext uri="{FF2B5EF4-FFF2-40B4-BE49-F238E27FC236}">
                <a16:creationId xmlns:a16="http://schemas.microsoft.com/office/drawing/2014/main" id="{20CA49CE-667D-2192-00E1-501142EB309F}"/>
              </a:ext>
            </a:extLst>
          </p:cNvPr>
          <p:cNvSpPr/>
          <p:nvPr/>
        </p:nvSpPr>
        <p:spPr>
          <a:xfrm>
            <a:off x="56658" y="4764624"/>
            <a:ext cx="12078684" cy="1662401"/>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1">
              <a:alpha val="66000"/>
            </a:schemeClr>
          </a:solidFill>
        </p:spPr>
        <p:txBody>
          <a:bodyPr wrap="square" lIns="0" tIns="0" rIns="0" bIns="0" rtlCol="0"/>
          <a:lstStyle/>
          <a:p>
            <a:pPr rtl="0"/>
            <a:endParaRPr lang="es-ES" dirty="0"/>
          </a:p>
        </p:txBody>
      </p:sp>
      <p:pic>
        <p:nvPicPr>
          <p:cNvPr id="24" name="Imagen 23">
            <a:extLst>
              <a:ext uri="{FF2B5EF4-FFF2-40B4-BE49-F238E27FC236}">
                <a16:creationId xmlns:a16="http://schemas.microsoft.com/office/drawing/2014/main" id="{457D01C0-DE5A-3AA6-DD69-288B71613314}"/>
              </a:ext>
            </a:extLst>
          </p:cNvPr>
          <p:cNvPicPr>
            <a:picLocks noChangeAspect="1"/>
          </p:cNvPicPr>
          <p:nvPr/>
        </p:nvPicPr>
        <p:blipFill>
          <a:blip r:embed="rId3"/>
          <a:stretch>
            <a:fillRect/>
          </a:stretch>
        </p:blipFill>
        <p:spPr>
          <a:xfrm rot="5400000">
            <a:off x="7544373" y="2831583"/>
            <a:ext cx="3077767" cy="3732529"/>
          </a:xfrm>
          <a:prstGeom prst="rect">
            <a:avLst/>
          </a:prstGeom>
        </p:spPr>
      </p:pic>
      <p:sp>
        <p:nvSpPr>
          <p:cNvPr id="2" name="Título 1">
            <a:extLst>
              <a:ext uri="{FF2B5EF4-FFF2-40B4-BE49-F238E27FC236}">
                <a16:creationId xmlns:a16="http://schemas.microsoft.com/office/drawing/2014/main" id="{345C5720-51D4-4632-91CD-936B8AB96750}"/>
              </a:ext>
            </a:extLst>
          </p:cNvPr>
          <p:cNvSpPr>
            <a:spLocks noGrp="1"/>
          </p:cNvSpPr>
          <p:nvPr>
            <p:ph type="title"/>
          </p:nvPr>
        </p:nvSpPr>
        <p:spPr>
          <a:xfrm>
            <a:off x="573934" y="719828"/>
            <a:ext cx="4906367" cy="482475"/>
          </a:xfrm>
        </p:spPr>
        <p:txBody>
          <a:bodyPr rtlCol="0">
            <a:normAutofit/>
          </a:bodyPr>
          <a:lstStyle/>
          <a:p>
            <a:pPr rtl="0"/>
            <a:r>
              <a:rPr lang="es-ES" sz="2400" dirty="0">
                <a:solidFill>
                  <a:schemeClr val="tx1"/>
                </a:solidFill>
                <a:latin typeface="Arial "/>
              </a:rPr>
              <a:t>PROPUESTA ECONOMICA</a:t>
            </a:r>
          </a:p>
        </p:txBody>
      </p:sp>
      <p:sp>
        <p:nvSpPr>
          <p:cNvPr id="36" name="Elipse 35">
            <a:extLst>
              <a:ext uri="{FF2B5EF4-FFF2-40B4-BE49-F238E27FC236}">
                <a16:creationId xmlns:a16="http://schemas.microsoft.com/office/drawing/2014/main" id="{2A1E4B3E-6E43-386A-A0C9-FC1DEB1250BC}"/>
              </a:ext>
            </a:extLst>
          </p:cNvPr>
          <p:cNvSpPr/>
          <p:nvPr/>
        </p:nvSpPr>
        <p:spPr>
          <a:xfrm>
            <a:off x="6321016" y="960048"/>
            <a:ext cx="577601" cy="617503"/>
          </a:xfrm>
          <a:prstGeom prst="ellipse">
            <a:avLst/>
          </a:prstGeom>
          <a:blipFill dpi="0" rotWithShape="1">
            <a:blip r:embed="rId4">
              <a:alphaModFix amt="94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nvGrpSpPr>
          <p:cNvPr id="20" name="Grupo 19">
            <a:extLst>
              <a:ext uri="{FF2B5EF4-FFF2-40B4-BE49-F238E27FC236}">
                <a16:creationId xmlns:a16="http://schemas.microsoft.com/office/drawing/2014/main" id="{E24353EC-8D5A-9F87-37E1-6A0A1A8E19E3}"/>
              </a:ext>
            </a:extLst>
          </p:cNvPr>
          <p:cNvGrpSpPr/>
          <p:nvPr/>
        </p:nvGrpSpPr>
        <p:grpSpPr>
          <a:xfrm>
            <a:off x="1" y="6469281"/>
            <a:ext cx="12191999" cy="396000"/>
            <a:chOff x="0" y="6034550"/>
            <a:chExt cx="12191999" cy="396000"/>
          </a:xfrm>
        </p:grpSpPr>
        <p:sp>
          <p:nvSpPr>
            <p:cNvPr id="9" name="Rectángulo 8">
              <a:extLst>
                <a:ext uri="{FF2B5EF4-FFF2-40B4-BE49-F238E27FC236}">
                  <a16:creationId xmlns:a16="http://schemas.microsoft.com/office/drawing/2014/main" id="{39E0EC1B-808A-6728-2E34-7E63CEE5CB1C}"/>
                </a:ext>
              </a:extLst>
            </p:cNvPr>
            <p:cNvSpPr/>
            <p:nvPr/>
          </p:nvSpPr>
          <p:spPr>
            <a:xfrm>
              <a:off x="0" y="6034550"/>
              <a:ext cx="12191999" cy="396000"/>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9">
              <a:extLst>
                <a:ext uri="{FF2B5EF4-FFF2-40B4-BE49-F238E27FC236}">
                  <a16:creationId xmlns:a16="http://schemas.microsoft.com/office/drawing/2014/main" id="{FD7AD074-BC56-D8CE-13D1-937B306B6998}"/>
                </a:ext>
              </a:extLst>
            </p:cNvPr>
            <p:cNvSpPr/>
            <p:nvPr/>
          </p:nvSpPr>
          <p:spPr>
            <a:xfrm>
              <a:off x="697589" y="6034550"/>
              <a:ext cx="120073" cy="3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 name="Rectángulo 10">
              <a:extLst>
                <a:ext uri="{FF2B5EF4-FFF2-40B4-BE49-F238E27FC236}">
                  <a16:creationId xmlns:a16="http://schemas.microsoft.com/office/drawing/2014/main" id="{F7BA2DA2-C7EF-E294-67FE-4962188552EC}"/>
                </a:ext>
              </a:extLst>
            </p:cNvPr>
            <p:cNvSpPr/>
            <p:nvPr/>
          </p:nvSpPr>
          <p:spPr>
            <a:xfrm>
              <a:off x="978096" y="6034550"/>
              <a:ext cx="120073" cy="3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 name="Rectángulo 11">
              <a:extLst>
                <a:ext uri="{FF2B5EF4-FFF2-40B4-BE49-F238E27FC236}">
                  <a16:creationId xmlns:a16="http://schemas.microsoft.com/office/drawing/2014/main" id="{61205FB1-8EC7-D34A-47F9-997FDE1F96C7}"/>
                </a:ext>
              </a:extLst>
            </p:cNvPr>
            <p:cNvSpPr/>
            <p:nvPr/>
          </p:nvSpPr>
          <p:spPr>
            <a:xfrm>
              <a:off x="1258603" y="6034550"/>
              <a:ext cx="120073" cy="3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Rectángulo 16">
              <a:extLst>
                <a:ext uri="{FF2B5EF4-FFF2-40B4-BE49-F238E27FC236}">
                  <a16:creationId xmlns:a16="http://schemas.microsoft.com/office/drawing/2014/main" id="{44604FD4-2662-F965-93AC-A10DC6B3A5CD}"/>
                </a:ext>
              </a:extLst>
            </p:cNvPr>
            <p:cNvSpPr/>
            <p:nvPr/>
          </p:nvSpPr>
          <p:spPr>
            <a:xfrm>
              <a:off x="1539111" y="6034550"/>
              <a:ext cx="120073" cy="3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
        <p:nvSpPr>
          <p:cNvPr id="31" name="Google Shape;7555;p53">
            <a:extLst>
              <a:ext uri="{FF2B5EF4-FFF2-40B4-BE49-F238E27FC236}">
                <a16:creationId xmlns:a16="http://schemas.microsoft.com/office/drawing/2014/main" id="{3A7252E3-F8BA-842B-E8EB-4B7B19EEBBC8}"/>
              </a:ext>
            </a:extLst>
          </p:cNvPr>
          <p:cNvSpPr/>
          <p:nvPr/>
        </p:nvSpPr>
        <p:spPr>
          <a:xfrm rot="16200000">
            <a:off x="311906" y="1824380"/>
            <a:ext cx="216000" cy="180000"/>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blipFill dpi="0" rotWithShape="1">
            <a:blip r:embed="rId4">
              <a:extLst>
                <a:ext uri="{28A0092B-C50C-407E-A947-70E740481C1C}">
                  <a14:useLocalDpi xmlns:a14="http://schemas.microsoft.com/office/drawing/2010/main" val="0"/>
                </a:ext>
              </a:extLst>
            </a:blip>
            <a:srcRect/>
            <a:stretch>
              <a:fillRect/>
            </a:stretch>
          </a:blip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CuadroTexto 3">
            <a:extLst>
              <a:ext uri="{FF2B5EF4-FFF2-40B4-BE49-F238E27FC236}">
                <a16:creationId xmlns:a16="http://schemas.microsoft.com/office/drawing/2014/main" id="{C0DDBE5E-62FC-4C4B-1B79-D9B3A4F55B47}"/>
              </a:ext>
            </a:extLst>
          </p:cNvPr>
          <p:cNvSpPr txBox="1"/>
          <p:nvPr/>
        </p:nvSpPr>
        <p:spPr>
          <a:xfrm>
            <a:off x="573934" y="1389570"/>
            <a:ext cx="2272670" cy="369332"/>
          </a:xfrm>
          <a:prstGeom prst="rect">
            <a:avLst/>
          </a:prstGeom>
          <a:noFill/>
        </p:spPr>
        <p:txBody>
          <a:bodyPr wrap="square" rtlCol="0">
            <a:spAutoFit/>
          </a:bodyPr>
          <a:lstStyle/>
          <a:p>
            <a:r>
              <a:rPr lang="es-MX" b="1" dirty="0"/>
              <a:t>Opción A</a:t>
            </a:r>
            <a:endParaRPr lang="es-PE" b="1" dirty="0"/>
          </a:p>
        </p:txBody>
      </p:sp>
      <p:sp>
        <p:nvSpPr>
          <p:cNvPr id="21" name="CuadroTexto 20">
            <a:extLst>
              <a:ext uri="{FF2B5EF4-FFF2-40B4-BE49-F238E27FC236}">
                <a16:creationId xmlns:a16="http://schemas.microsoft.com/office/drawing/2014/main" id="{56F0D4EC-6EF3-27FC-910A-B4E9E7B18151}"/>
              </a:ext>
            </a:extLst>
          </p:cNvPr>
          <p:cNvSpPr txBox="1"/>
          <p:nvPr/>
        </p:nvSpPr>
        <p:spPr>
          <a:xfrm>
            <a:off x="573935" y="1785744"/>
            <a:ext cx="5179166" cy="3077766"/>
          </a:xfrm>
          <a:prstGeom prst="rect">
            <a:avLst/>
          </a:prstGeom>
          <a:noFill/>
        </p:spPr>
        <p:txBody>
          <a:bodyPr wrap="square">
            <a:spAutoFit/>
          </a:bodyPr>
          <a:lstStyle/>
          <a:p>
            <a:r>
              <a:rPr lang="es-MX" sz="1300" spc="-25" dirty="0">
                <a:latin typeface="Arial"/>
                <a:cs typeface="Arial"/>
              </a:rPr>
              <a:t>RESULTADO GEOLOGICOS Y ANALISIS DE LABORATORIO</a:t>
            </a:r>
          </a:p>
          <a:p>
            <a:pPr algn="just"/>
            <a:endParaRPr lang="es-MX" sz="1300" spc="-25" dirty="0">
              <a:latin typeface="Arial"/>
              <a:cs typeface="Arial"/>
            </a:endParaRPr>
          </a:p>
          <a:p>
            <a:pPr algn="just"/>
            <a:r>
              <a:rPr lang="es-MX" sz="1200" spc="-25" dirty="0">
                <a:latin typeface="Arial"/>
                <a:cs typeface="Arial"/>
              </a:rPr>
              <a:t>Al noroeste de nuestros terrenos, compartimos veta con el proyecto minero de la Compañía Minera La Plata S.A. </a:t>
            </a:r>
          </a:p>
          <a:p>
            <a:pPr algn="just"/>
            <a:r>
              <a:rPr lang="es-MX" sz="1200" spc="-25" dirty="0">
                <a:latin typeface="Arial"/>
                <a:cs typeface="Arial"/>
              </a:rPr>
              <a:t>El 2 de julio de 2024, Atico Mining Corporation reveló los resultados del Estudio de Factibilidad Definitiva para su Proyecto, con reservas minerales probables de 2.51 millones de toneladas (Mt) con calificaciones promedio de:</a:t>
            </a:r>
          </a:p>
          <a:p>
            <a:pPr marL="171450" indent="-171450">
              <a:buFont typeface="Arial" panose="020B0604020202020204" pitchFamily="34" charset="0"/>
              <a:buChar char="•"/>
            </a:pPr>
            <a:r>
              <a:rPr lang="es-MX" sz="1200" spc="-25" dirty="0">
                <a:latin typeface="Arial"/>
                <a:cs typeface="Arial"/>
              </a:rPr>
              <a:t>1.59% de cobre (Cu) </a:t>
            </a:r>
          </a:p>
          <a:p>
            <a:pPr marL="171450" indent="-171450">
              <a:buFont typeface="Arial" panose="020B0604020202020204" pitchFamily="34" charset="0"/>
              <a:buChar char="•"/>
            </a:pPr>
            <a:r>
              <a:rPr lang="es-MX" sz="1200" spc="-25" dirty="0">
                <a:latin typeface="Arial"/>
                <a:cs typeface="Arial"/>
              </a:rPr>
              <a:t>2.28 gramos por tonelada (g/t) de oro (Au), </a:t>
            </a:r>
          </a:p>
          <a:p>
            <a:pPr marL="171450" indent="-171450">
              <a:buFont typeface="Arial" panose="020B0604020202020204" pitchFamily="34" charset="0"/>
              <a:buChar char="•"/>
            </a:pPr>
            <a:r>
              <a:rPr lang="es-MX" sz="1200" spc="-25" dirty="0">
                <a:latin typeface="Arial"/>
                <a:cs typeface="Arial"/>
              </a:rPr>
              <a:t>30.41 g/t de plata (Ag), y 2.18% de zinc (Zn). </a:t>
            </a:r>
          </a:p>
          <a:p>
            <a:endParaRPr lang="es-MX" sz="1200" spc="-25" dirty="0">
              <a:latin typeface="Arial"/>
              <a:cs typeface="Arial"/>
            </a:endParaRPr>
          </a:p>
          <a:p>
            <a:r>
              <a:rPr lang="es-MX" sz="1200" spc="-25" dirty="0">
                <a:latin typeface="Arial"/>
                <a:cs typeface="Arial"/>
              </a:rPr>
              <a:t>Se proyecta una producción anual promedio de 9.71 millones de libras (Mlbs) de Cu, 15,929 onzas (oz) de Au, 226,299 oz de Ag, y 13.25 Mlbs de Zn en concentrados durante 8.1 años de vida útil de la mina.</a:t>
            </a:r>
          </a:p>
          <a:p>
            <a:endParaRPr lang="es-MX" sz="1200" spc="-25" dirty="0">
              <a:solidFill>
                <a:schemeClr val="bg1"/>
              </a:solidFill>
              <a:latin typeface="Arial"/>
              <a:cs typeface="Arial"/>
            </a:endParaRPr>
          </a:p>
          <a:p>
            <a:endParaRPr lang="es-MX" sz="1200" spc="-25" dirty="0">
              <a:solidFill>
                <a:schemeClr val="bg1"/>
              </a:solidFill>
              <a:latin typeface="Arial"/>
              <a:cs typeface="Arial"/>
            </a:endParaRPr>
          </a:p>
        </p:txBody>
      </p:sp>
      <p:sp>
        <p:nvSpPr>
          <p:cNvPr id="25" name="CuadroTexto 24">
            <a:extLst>
              <a:ext uri="{FF2B5EF4-FFF2-40B4-BE49-F238E27FC236}">
                <a16:creationId xmlns:a16="http://schemas.microsoft.com/office/drawing/2014/main" id="{8CFAD0AA-0222-C834-73B6-AD5609765BF5}"/>
              </a:ext>
            </a:extLst>
          </p:cNvPr>
          <p:cNvSpPr txBox="1"/>
          <p:nvPr/>
        </p:nvSpPr>
        <p:spPr>
          <a:xfrm>
            <a:off x="6031795" y="1644852"/>
            <a:ext cx="5948538" cy="1754326"/>
          </a:xfrm>
          <a:prstGeom prst="rect">
            <a:avLst/>
          </a:prstGeom>
          <a:noFill/>
        </p:spPr>
        <p:txBody>
          <a:bodyPr wrap="square">
            <a:spAutoFit/>
          </a:bodyPr>
          <a:lstStyle/>
          <a:p>
            <a:pPr marL="180000" lvl="1"/>
            <a:endParaRPr lang="es-MX" sz="1100" spc="-25" dirty="0">
              <a:latin typeface="Arial"/>
              <a:cs typeface="Arial"/>
            </a:endParaRPr>
          </a:p>
          <a:p>
            <a:pPr marL="180000" lvl="1" algn="just"/>
            <a:r>
              <a:rPr lang="es-MX" sz="1200" spc="-25" dirty="0">
                <a:latin typeface="Arial"/>
                <a:cs typeface="Arial"/>
              </a:rPr>
              <a:t>Con respecto a nuestras tierras, se adjunta pantalla de los informes realizados por la empresa COMINECSA (Empresa del estado), única empresa autorizada a realizar este tipo de informes.</a:t>
            </a:r>
          </a:p>
          <a:p>
            <a:pPr marL="180000" lvl="1" algn="just"/>
            <a:r>
              <a:rPr lang="es-MX" sz="1200" spc="-25" dirty="0">
                <a:latin typeface="Arial"/>
                <a:cs typeface="Arial"/>
              </a:rPr>
              <a:t>Se indica 11 muestreos realizados en la zona a explotar, en donde se revela los puntos de explotación del oro con rangos hasta 208 gramos/toneladas.</a:t>
            </a:r>
          </a:p>
          <a:p>
            <a:pPr marL="180000" lvl="1" algn="just"/>
            <a:r>
              <a:rPr lang="es-MX" sz="1200" spc="-25" dirty="0">
                <a:latin typeface="Arial"/>
                <a:cs typeface="Arial"/>
              </a:rPr>
              <a:t>Importante mencionar que la muestra indica explotación del cobre a nivel de 741 ppm</a:t>
            </a:r>
          </a:p>
          <a:p>
            <a:pPr marL="180000" lvl="1" algn="just"/>
            <a:r>
              <a:rPr lang="es-MX" sz="1200" spc="-25" dirty="0">
                <a:latin typeface="Arial"/>
                <a:cs typeface="Arial"/>
              </a:rPr>
              <a:t>Existen otros indicadores para la explotación de plata y tierras raras.</a:t>
            </a:r>
          </a:p>
          <a:p>
            <a:pPr marL="180000" lvl="1"/>
            <a:endParaRPr lang="es-MX" sz="1300" b="1" spc="-25" dirty="0">
              <a:solidFill>
                <a:srgbClr val="FFC000"/>
              </a:solidFill>
              <a:latin typeface="Arial"/>
              <a:cs typeface="Arial"/>
            </a:endParaRPr>
          </a:p>
        </p:txBody>
      </p:sp>
      <p:sp>
        <p:nvSpPr>
          <p:cNvPr id="47" name="Rectángulo 46">
            <a:extLst>
              <a:ext uri="{FF2B5EF4-FFF2-40B4-BE49-F238E27FC236}">
                <a16:creationId xmlns:a16="http://schemas.microsoft.com/office/drawing/2014/main" id="{4ECCEB3B-EB3E-F8DD-A45A-897FB56BB48E}"/>
              </a:ext>
            </a:extLst>
          </p:cNvPr>
          <p:cNvSpPr/>
          <p:nvPr/>
        </p:nvSpPr>
        <p:spPr>
          <a:xfrm>
            <a:off x="669016" y="1268800"/>
            <a:ext cx="5652000" cy="36000"/>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object 3">
            <a:hlinkClick r:id="rId6"/>
            <a:extLst>
              <a:ext uri="{FF2B5EF4-FFF2-40B4-BE49-F238E27FC236}">
                <a16:creationId xmlns:a16="http://schemas.microsoft.com/office/drawing/2014/main" id="{902159EF-45D1-294A-A6CE-AC970F4AC3EF}"/>
              </a:ext>
            </a:extLst>
          </p:cNvPr>
          <p:cNvSpPr txBox="1"/>
          <p:nvPr/>
        </p:nvSpPr>
        <p:spPr>
          <a:xfrm>
            <a:off x="343704" y="5094044"/>
            <a:ext cx="5049564" cy="406423"/>
          </a:xfrm>
          <a:prstGeom prst="rect">
            <a:avLst/>
          </a:prstGeom>
        </p:spPr>
        <p:txBody>
          <a:bodyPr vert="horz" wrap="square" lIns="0" tIns="8792" rIns="0" bIns="0" rtlCol="0">
            <a:spAutoFit/>
          </a:bodyPr>
          <a:lstStyle/>
          <a:p>
            <a:pPr marL="8792">
              <a:spcBef>
                <a:spcPts val="69"/>
              </a:spcBef>
            </a:pPr>
            <a:r>
              <a:rPr lang="es-PE" sz="1200" b="1" spc="52" dirty="0">
                <a:solidFill>
                  <a:schemeClr val="bg1"/>
                </a:solidFill>
                <a:latin typeface="Arial Black" panose="020B0A04020102020204" pitchFamily="34" charset="0"/>
                <a:ea typeface="+mj-ea"/>
                <a:cs typeface="Arial"/>
              </a:rPr>
              <a:t>A.1 Venta de 1,000 hectáreas:  </a:t>
            </a:r>
            <a:r>
              <a:rPr lang="es-PE" sz="1400" b="1" spc="52" dirty="0">
                <a:solidFill>
                  <a:srgbClr val="FFC000"/>
                </a:solidFill>
                <a:latin typeface="Arial Black" panose="020B0A04020102020204" pitchFamily="34" charset="0"/>
                <a:ea typeface="+mj-ea"/>
                <a:cs typeface="Arial"/>
              </a:rPr>
              <a:t>US$ 35´000,000 </a:t>
            </a:r>
          </a:p>
          <a:p>
            <a:pPr marL="8792">
              <a:spcBef>
                <a:spcPts val="69"/>
              </a:spcBef>
            </a:pPr>
            <a:r>
              <a:rPr lang="es-MX" sz="1100" b="1" spc="-25" dirty="0">
                <a:solidFill>
                  <a:srgbClr val="FFC000"/>
                </a:solidFill>
                <a:latin typeface="Arial"/>
                <a:cs typeface="Arial"/>
              </a:rPr>
              <a:t>          (Treinta y cinco millones y 00/100 de dólares americanos)</a:t>
            </a:r>
            <a:endParaRPr lang="es-PE" sz="1100" b="1" spc="52" dirty="0">
              <a:solidFill>
                <a:srgbClr val="FFC000"/>
              </a:solidFill>
              <a:latin typeface="Arial Black" panose="020B0A04020102020204" pitchFamily="34" charset="0"/>
              <a:ea typeface="+mj-ea"/>
              <a:cs typeface="Arial"/>
            </a:endParaRPr>
          </a:p>
        </p:txBody>
      </p:sp>
      <p:sp>
        <p:nvSpPr>
          <p:cNvPr id="22" name="object 3">
            <a:hlinkClick r:id="rId6"/>
            <a:extLst>
              <a:ext uri="{FF2B5EF4-FFF2-40B4-BE49-F238E27FC236}">
                <a16:creationId xmlns:a16="http://schemas.microsoft.com/office/drawing/2014/main" id="{839872F7-84DE-3758-3F21-FD5363DD6342}"/>
              </a:ext>
            </a:extLst>
          </p:cNvPr>
          <p:cNvSpPr txBox="1"/>
          <p:nvPr/>
        </p:nvSpPr>
        <p:spPr>
          <a:xfrm>
            <a:off x="305558" y="5807564"/>
            <a:ext cx="6213776" cy="452589"/>
          </a:xfrm>
          <a:prstGeom prst="rect">
            <a:avLst/>
          </a:prstGeom>
        </p:spPr>
        <p:txBody>
          <a:bodyPr vert="horz" wrap="square" lIns="0" tIns="8792" rIns="0" bIns="0" rtlCol="0">
            <a:spAutoFit/>
          </a:bodyPr>
          <a:lstStyle/>
          <a:p>
            <a:pPr>
              <a:spcBef>
                <a:spcPts val="69"/>
              </a:spcBef>
            </a:pPr>
            <a:r>
              <a:rPr lang="es-PE" sz="1200" b="1" spc="52" dirty="0">
                <a:solidFill>
                  <a:schemeClr val="bg1"/>
                </a:solidFill>
                <a:latin typeface="Arial Black" panose="020B0A04020102020204" pitchFamily="34" charset="0"/>
                <a:ea typeface="+mj-ea"/>
                <a:cs typeface="Arial"/>
              </a:rPr>
              <a:t>A.2 Venta de    500 hectáreas:  </a:t>
            </a:r>
            <a:r>
              <a:rPr lang="es-PE" sz="1400" b="1" spc="52" dirty="0">
                <a:solidFill>
                  <a:srgbClr val="FFC000"/>
                </a:solidFill>
                <a:latin typeface="Arial Black" panose="020B0A04020102020204" pitchFamily="34" charset="0"/>
                <a:ea typeface="+mj-ea"/>
                <a:cs typeface="Arial"/>
              </a:rPr>
              <a:t>US$ 20´000,000  </a:t>
            </a:r>
          </a:p>
          <a:p>
            <a:pPr>
              <a:spcBef>
                <a:spcPts val="69"/>
              </a:spcBef>
            </a:pPr>
            <a:r>
              <a:rPr lang="es-PE" sz="1400" b="1" spc="52" dirty="0">
                <a:solidFill>
                  <a:srgbClr val="FFC000"/>
                </a:solidFill>
                <a:latin typeface="Arial Black" panose="020B0A04020102020204" pitchFamily="34" charset="0"/>
                <a:ea typeface="+mj-ea"/>
                <a:cs typeface="Arial"/>
              </a:rPr>
              <a:t>     </a:t>
            </a:r>
            <a:r>
              <a:rPr lang="es-MX" sz="1100" b="1" spc="-25" dirty="0">
                <a:solidFill>
                  <a:srgbClr val="FFC000"/>
                </a:solidFill>
                <a:latin typeface="Arial"/>
                <a:cs typeface="Arial"/>
              </a:rPr>
              <a:t>(Veinte millones y 00/100 de dólares americanos)</a:t>
            </a:r>
            <a:endParaRPr lang="es-PE" sz="1100" b="1" spc="52" dirty="0">
              <a:solidFill>
                <a:srgbClr val="FFC000"/>
              </a:solidFill>
              <a:latin typeface="Arial Black" panose="020B0A04020102020204" pitchFamily="34" charset="0"/>
              <a:ea typeface="+mj-ea"/>
              <a:cs typeface="Arial"/>
            </a:endParaRPr>
          </a:p>
        </p:txBody>
      </p:sp>
      <p:pic>
        <p:nvPicPr>
          <p:cNvPr id="27" name="Imagen 26">
            <a:extLst>
              <a:ext uri="{FF2B5EF4-FFF2-40B4-BE49-F238E27FC236}">
                <a16:creationId xmlns:a16="http://schemas.microsoft.com/office/drawing/2014/main" id="{E4702118-47FC-3E3A-6310-A109E6B181E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363" y="79239"/>
            <a:ext cx="1229206" cy="349207"/>
          </a:xfrm>
          <a:prstGeom prst="rect">
            <a:avLst/>
          </a:prstGeom>
        </p:spPr>
      </p:pic>
      <p:sp>
        <p:nvSpPr>
          <p:cNvPr id="3" name="CuadroTexto 2">
            <a:extLst>
              <a:ext uri="{FF2B5EF4-FFF2-40B4-BE49-F238E27FC236}">
                <a16:creationId xmlns:a16="http://schemas.microsoft.com/office/drawing/2014/main" id="{E95E8536-D33A-E835-0721-386F5E3DA73E}"/>
              </a:ext>
            </a:extLst>
          </p:cNvPr>
          <p:cNvSpPr txBox="1"/>
          <p:nvPr/>
        </p:nvSpPr>
        <p:spPr>
          <a:xfrm>
            <a:off x="1887773" y="6488668"/>
            <a:ext cx="6082890" cy="338554"/>
          </a:xfrm>
          <a:prstGeom prst="rect">
            <a:avLst/>
          </a:prstGeom>
          <a:noFill/>
        </p:spPr>
        <p:txBody>
          <a:bodyPr wrap="square" rtlCol="0">
            <a:spAutoFit/>
          </a:bodyPr>
          <a:lstStyle/>
          <a:p>
            <a:r>
              <a:rPr lang="es-MX" sz="1600" b="1" dirty="0">
                <a:solidFill>
                  <a:schemeClr val="bg1"/>
                </a:solidFill>
              </a:rPr>
              <a:t>Comisión: Mandate de compra e intermediarios 5%</a:t>
            </a:r>
            <a:endParaRPr lang="es-PE" sz="1600" b="1" dirty="0">
              <a:solidFill>
                <a:schemeClr val="bg1"/>
              </a:solidFill>
            </a:endParaRPr>
          </a:p>
        </p:txBody>
      </p:sp>
    </p:spTree>
    <p:extLst>
      <p:ext uri="{BB962C8B-B14F-4D97-AF65-F5344CB8AC3E}">
        <p14:creationId xmlns:p14="http://schemas.microsoft.com/office/powerpoint/2010/main" val="2449329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objeto 3" descr="Personas con documentos">
            <a:extLst>
              <a:ext uri="{FF2B5EF4-FFF2-40B4-BE49-F238E27FC236}">
                <a16:creationId xmlns:a16="http://schemas.microsoft.com/office/drawing/2014/main" id="{20CA49CE-667D-2192-00E1-501142EB309F}"/>
              </a:ext>
            </a:extLst>
          </p:cNvPr>
          <p:cNvSpPr/>
          <p:nvPr/>
        </p:nvSpPr>
        <p:spPr>
          <a:xfrm>
            <a:off x="6717016" y="24830"/>
            <a:ext cx="5452395" cy="6425201"/>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1">
              <a:alpha val="66000"/>
            </a:schemeClr>
          </a:solidFill>
        </p:spPr>
        <p:txBody>
          <a:bodyPr wrap="square" lIns="0" tIns="0" rIns="0" bIns="0" rtlCol="0"/>
          <a:lstStyle/>
          <a:p>
            <a:pPr rtl="0"/>
            <a:endParaRPr lang="es-ES" dirty="0"/>
          </a:p>
        </p:txBody>
      </p:sp>
      <p:sp>
        <p:nvSpPr>
          <p:cNvPr id="2" name="Título 1">
            <a:extLst>
              <a:ext uri="{FF2B5EF4-FFF2-40B4-BE49-F238E27FC236}">
                <a16:creationId xmlns:a16="http://schemas.microsoft.com/office/drawing/2014/main" id="{345C5720-51D4-4632-91CD-936B8AB96750}"/>
              </a:ext>
            </a:extLst>
          </p:cNvPr>
          <p:cNvSpPr>
            <a:spLocks noGrp="1"/>
          </p:cNvSpPr>
          <p:nvPr>
            <p:ph type="title"/>
          </p:nvPr>
        </p:nvSpPr>
        <p:spPr>
          <a:xfrm>
            <a:off x="573934" y="719828"/>
            <a:ext cx="4906367" cy="482475"/>
          </a:xfrm>
        </p:spPr>
        <p:txBody>
          <a:bodyPr rtlCol="0">
            <a:normAutofit/>
          </a:bodyPr>
          <a:lstStyle/>
          <a:p>
            <a:pPr rtl="0"/>
            <a:r>
              <a:rPr lang="es-ES" sz="2400" dirty="0">
                <a:solidFill>
                  <a:schemeClr val="tx1">
                    <a:lumMod val="65000"/>
                    <a:lumOff val="35000"/>
                  </a:schemeClr>
                </a:solidFill>
                <a:latin typeface="Arial "/>
              </a:rPr>
              <a:t>PROPUESTA ECONOMICA</a:t>
            </a:r>
          </a:p>
        </p:txBody>
      </p:sp>
      <p:sp>
        <p:nvSpPr>
          <p:cNvPr id="26" name="CuadroTexto 25">
            <a:extLst>
              <a:ext uri="{FF2B5EF4-FFF2-40B4-BE49-F238E27FC236}">
                <a16:creationId xmlns:a16="http://schemas.microsoft.com/office/drawing/2014/main" id="{52284D81-FA1A-1F45-0537-43B1DF4B009A}"/>
              </a:ext>
            </a:extLst>
          </p:cNvPr>
          <p:cNvSpPr txBox="1"/>
          <p:nvPr/>
        </p:nvSpPr>
        <p:spPr>
          <a:xfrm>
            <a:off x="554884" y="2000589"/>
            <a:ext cx="10577358" cy="261610"/>
          </a:xfrm>
          <a:prstGeom prst="rect">
            <a:avLst/>
          </a:prstGeom>
          <a:noFill/>
        </p:spPr>
        <p:txBody>
          <a:bodyPr wrap="square">
            <a:spAutoFit/>
          </a:bodyPr>
          <a:lstStyle/>
          <a:p>
            <a:pPr algn="just"/>
            <a:r>
              <a:rPr lang="es-MX" sz="1100" spc="-25" dirty="0">
                <a:latin typeface="Arial"/>
                <a:cs typeface="Arial"/>
              </a:rPr>
              <a:t>Inversión de desarrollo y explotación</a:t>
            </a:r>
            <a:endParaRPr lang="es-PE" sz="1100" spc="-25" dirty="0">
              <a:latin typeface="Arial"/>
              <a:cs typeface="Arial"/>
            </a:endParaRPr>
          </a:p>
        </p:txBody>
      </p:sp>
      <p:sp>
        <p:nvSpPr>
          <p:cNvPr id="36" name="Elipse 35">
            <a:extLst>
              <a:ext uri="{FF2B5EF4-FFF2-40B4-BE49-F238E27FC236}">
                <a16:creationId xmlns:a16="http://schemas.microsoft.com/office/drawing/2014/main" id="{2A1E4B3E-6E43-386A-A0C9-FC1DEB1250BC}"/>
              </a:ext>
            </a:extLst>
          </p:cNvPr>
          <p:cNvSpPr/>
          <p:nvPr/>
        </p:nvSpPr>
        <p:spPr>
          <a:xfrm>
            <a:off x="6134100" y="584800"/>
            <a:ext cx="1260000" cy="1260000"/>
          </a:xfrm>
          <a:prstGeom prst="ellipse">
            <a:avLst/>
          </a:prstGeom>
          <a:blipFill dpi="0" rotWithShape="1">
            <a:blip r:embed="rId3">
              <a:alphaModFix amt="94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39" name="Imagen 38">
            <a:extLst>
              <a:ext uri="{FF2B5EF4-FFF2-40B4-BE49-F238E27FC236}">
                <a16:creationId xmlns:a16="http://schemas.microsoft.com/office/drawing/2014/main" id="{3295A352-4681-2D44-763D-3D1514C02E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363" y="79239"/>
            <a:ext cx="1229206" cy="349207"/>
          </a:xfrm>
          <a:prstGeom prst="rect">
            <a:avLst/>
          </a:prstGeom>
        </p:spPr>
      </p:pic>
      <p:grpSp>
        <p:nvGrpSpPr>
          <p:cNvPr id="20" name="Grupo 19">
            <a:extLst>
              <a:ext uri="{FF2B5EF4-FFF2-40B4-BE49-F238E27FC236}">
                <a16:creationId xmlns:a16="http://schemas.microsoft.com/office/drawing/2014/main" id="{E24353EC-8D5A-9F87-37E1-6A0A1A8E19E3}"/>
              </a:ext>
            </a:extLst>
          </p:cNvPr>
          <p:cNvGrpSpPr/>
          <p:nvPr/>
        </p:nvGrpSpPr>
        <p:grpSpPr>
          <a:xfrm>
            <a:off x="1" y="6469281"/>
            <a:ext cx="12191999" cy="396000"/>
            <a:chOff x="0" y="6034550"/>
            <a:chExt cx="12191999" cy="396000"/>
          </a:xfrm>
        </p:grpSpPr>
        <p:sp>
          <p:nvSpPr>
            <p:cNvPr id="9" name="Rectángulo 8">
              <a:extLst>
                <a:ext uri="{FF2B5EF4-FFF2-40B4-BE49-F238E27FC236}">
                  <a16:creationId xmlns:a16="http://schemas.microsoft.com/office/drawing/2014/main" id="{39E0EC1B-808A-6728-2E34-7E63CEE5CB1C}"/>
                </a:ext>
              </a:extLst>
            </p:cNvPr>
            <p:cNvSpPr/>
            <p:nvPr/>
          </p:nvSpPr>
          <p:spPr>
            <a:xfrm>
              <a:off x="0" y="6034550"/>
              <a:ext cx="12191999" cy="396000"/>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9">
              <a:extLst>
                <a:ext uri="{FF2B5EF4-FFF2-40B4-BE49-F238E27FC236}">
                  <a16:creationId xmlns:a16="http://schemas.microsoft.com/office/drawing/2014/main" id="{FD7AD074-BC56-D8CE-13D1-937B306B6998}"/>
                </a:ext>
              </a:extLst>
            </p:cNvPr>
            <p:cNvSpPr/>
            <p:nvPr/>
          </p:nvSpPr>
          <p:spPr>
            <a:xfrm>
              <a:off x="697589" y="6034550"/>
              <a:ext cx="120073" cy="3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 name="Rectángulo 10">
              <a:extLst>
                <a:ext uri="{FF2B5EF4-FFF2-40B4-BE49-F238E27FC236}">
                  <a16:creationId xmlns:a16="http://schemas.microsoft.com/office/drawing/2014/main" id="{F7BA2DA2-C7EF-E294-67FE-4962188552EC}"/>
                </a:ext>
              </a:extLst>
            </p:cNvPr>
            <p:cNvSpPr/>
            <p:nvPr/>
          </p:nvSpPr>
          <p:spPr>
            <a:xfrm>
              <a:off x="978096" y="6034550"/>
              <a:ext cx="120073" cy="3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 name="Rectángulo 11">
              <a:extLst>
                <a:ext uri="{FF2B5EF4-FFF2-40B4-BE49-F238E27FC236}">
                  <a16:creationId xmlns:a16="http://schemas.microsoft.com/office/drawing/2014/main" id="{61205FB1-8EC7-D34A-47F9-997FDE1F96C7}"/>
                </a:ext>
              </a:extLst>
            </p:cNvPr>
            <p:cNvSpPr/>
            <p:nvPr/>
          </p:nvSpPr>
          <p:spPr>
            <a:xfrm>
              <a:off x="1258603" y="6034550"/>
              <a:ext cx="120073" cy="3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Rectángulo 16">
              <a:extLst>
                <a:ext uri="{FF2B5EF4-FFF2-40B4-BE49-F238E27FC236}">
                  <a16:creationId xmlns:a16="http://schemas.microsoft.com/office/drawing/2014/main" id="{44604FD4-2662-F965-93AC-A10DC6B3A5CD}"/>
                </a:ext>
              </a:extLst>
            </p:cNvPr>
            <p:cNvSpPr/>
            <p:nvPr/>
          </p:nvSpPr>
          <p:spPr>
            <a:xfrm>
              <a:off x="1539111" y="6034550"/>
              <a:ext cx="120073" cy="3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
        <p:nvSpPr>
          <p:cNvPr id="29" name="CuadroTexto 28">
            <a:extLst>
              <a:ext uri="{FF2B5EF4-FFF2-40B4-BE49-F238E27FC236}">
                <a16:creationId xmlns:a16="http://schemas.microsoft.com/office/drawing/2014/main" id="{B4F10C91-EA23-B060-2C5E-EC2E55D1E5B0}"/>
              </a:ext>
            </a:extLst>
          </p:cNvPr>
          <p:cNvSpPr txBox="1"/>
          <p:nvPr/>
        </p:nvSpPr>
        <p:spPr>
          <a:xfrm>
            <a:off x="573934" y="2736400"/>
            <a:ext cx="5395709" cy="938719"/>
          </a:xfrm>
          <a:prstGeom prst="rect">
            <a:avLst/>
          </a:prstGeom>
          <a:noFill/>
        </p:spPr>
        <p:txBody>
          <a:bodyPr wrap="square">
            <a:spAutoFit/>
          </a:bodyPr>
          <a:lstStyle/>
          <a:p>
            <a:pPr lvl="1"/>
            <a:r>
              <a:rPr lang="es-MX" sz="1300" b="1" spc="-25" dirty="0">
                <a:latin typeface="Arial"/>
                <a:cs typeface="Arial"/>
              </a:rPr>
              <a:t>Fase 1: Explotación de oro (300 hectáreas)</a:t>
            </a:r>
          </a:p>
          <a:p>
            <a:pPr lvl="1" algn="just"/>
            <a:r>
              <a:rPr lang="es-MX" sz="1200" spc="-25" dirty="0">
                <a:latin typeface="Arial"/>
                <a:cs typeface="Arial"/>
              </a:rPr>
              <a:t>Etapa inicial, de gestión y desarrollo operativo de la explotación, permitiendo un rendimiento moderado progresivo (USD1´000,000 /mes) que genere flujo de caja y valide el potencial inicial del terreno.</a:t>
            </a:r>
          </a:p>
          <a:p>
            <a:pPr marL="285750" indent="-285750">
              <a:buFont typeface="Arial" panose="020B0604020202020204" pitchFamily="34" charset="0"/>
              <a:buChar char="•"/>
            </a:pPr>
            <a:endParaRPr lang="es-MX" sz="600" spc="-25" dirty="0">
              <a:latin typeface="Arial"/>
              <a:cs typeface="Arial"/>
            </a:endParaRPr>
          </a:p>
        </p:txBody>
      </p:sp>
      <p:sp>
        <p:nvSpPr>
          <p:cNvPr id="31" name="Google Shape;7555;p53">
            <a:extLst>
              <a:ext uri="{FF2B5EF4-FFF2-40B4-BE49-F238E27FC236}">
                <a16:creationId xmlns:a16="http://schemas.microsoft.com/office/drawing/2014/main" id="{3A7252E3-F8BA-842B-E8EB-4B7B19EEBBC8}"/>
              </a:ext>
            </a:extLst>
          </p:cNvPr>
          <p:cNvSpPr/>
          <p:nvPr/>
        </p:nvSpPr>
        <p:spPr>
          <a:xfrm rot="16200000">
            <a:off x="784960" y="2788206"/>
            <a:ext cx="216000" cy="180000"/>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blipFill dpi="0" rotWithShape="1">
            <a:blip r:embed="rId3">
              <a:extLst>
                <a:ext uri="{28A0092B-C50C-407E-A947-70E740481C1C}">
                  <a14:useLocalDpi xmlns:a14="http://schemas.microsoft.com/office/drawing/2010/main" val="0"/>
                </a:ext>
              </a:extLst>
            </a:blip>
            <a:srcRect/>
            <a:stretch>
              <a:fillRect/>
            </a:stretch>
          </a:blip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CuadroTexto 3">
            <a:extLst>
              <a:ext uri="{FF2B5EF4-FFF2-40B4-BE49-F238E27FC236}">
                <a16:creationId xmlns:a16="http://schemas.microsoft.com/office/drawing/2014/main" id="{C0DDBE5E-62FC-4C4B-1B79-D9B3A4F55B47}"/>
              </a:ext>
            </a:extLst>
          </p:cNvPr>
          <p:cNvSpPr txBox="1"/>
          <p:nvPr/>
        </p:nvSpPr>
        <p:spPr>
          <a:xfrm>
            <a:off x="554884" y="1600200"/>
            <a:ext cx="2272670" cy="369332"/>
          </a:xfrm>
          <a:prstGeom prst="rect">
            <a:avLst/>
          </a:prstGeom>
          <a:noFill/>
        </p:spPr>
        <p:txBody>
          <a:bodyPr wrap="square" rtlCol="0">
            <a:spAutoFit/>
          </a:bodyPr>
          <a:lstStyle/>
          <a:p>
            <a:r>
              <a:rPr lang="es-MX" b="1" dirty="0"/>
              <a:t>Opción B</a:t>
            </a:r>
            <a:endParaRPr lang="es-PE" b="1" dirty="0"/>
          </a:p>
        </p:txBody>
      </p:sp>
      <p:sp>
        <p:nvSpPr>
          <p:cNvPr id="5" name="CuadroTexto 4">
            <a:extLst>
              <a:ext uri="{FF2B5EF4-FFF2-40B4-BE49-F238E27FC236}">
                <a16:creationId xmlns:a16="http://schemas.microsoft.com/office/drawing/2014/main" id="{1668D2E4-C4C8-97DC-B5CA-83E849585516}"/>
              </a:ext>
            </a:extLst>
          </p:cNvPr>
          <p:cNvSpPr txBox="1"/>
          <p:nvPr/>
        </p:nvSpPr>
        <p:spPr>
          <a:xfrm>
            <a:off x="1461506" y="3978669"/>
            <a:ext cx="5150962" cy="846386"/>
          </a:xfrm>
          <a:prstGeom prst="rect">
            <a:avLst/>
          </a:prstGeom>
          <a:noFill/>
        </p:spPr>
        <p:txBody>
          <a:bodyPr wrap="square">
            <a:spAutoFit/>
          </a:bodyPr>
          <a:lstStyle/>
          <a:p>
            <a:pPr lvl="1"/>
            <a:r>
              <a:rPr lang="es-MX" sz="1300" b="1" spc="-25" dirty="0">
                <a:latin typeface="Arial"/>
                <a:cs typeface="Arial"/>
              </a:rPr>
              <a:t>Fase 2: Estudios de Exploración y Valoración de Recursos:</a:t>
            </a:r>
          </a:p>
          <a:p>
            <a:pPr lvl="1" algn="just"/>
            <a:r>
              <a:rPr lang="es-MX" sz="1200" spc="-25" dirty="0">
                <a:latin typeface="Arial"/>
                <a:cs typeface="Arial"/>
              </a:rPr>
              <a:t>Inicio de proceso para los estudios geológicos a profundidad. Estos estudios permitirán definir con mayor exactitud los recursos presentes en el área y establecer una valorización objetiva del yacimiento.</a:t>
            </a:r>
            <a:endParaRPr lang="es-MX" sz="600" spc="-25" dirty="0">
              <a:latin typeface="Arial"/>
              <a:cs typeface="Arial"/>
            </a:endParaRPr>
          </a:p>
        </p:txBody>
      </p:sp>
      <p:sp>
        <p:nvSpPr>
          <p:cNvPr id="13" name="Google Shape;7555;p53">
            <a:extLst>
              <a:ext uri="{FF2B5EF4-FFF2-40B4-BE49-F238E27FC236}">
                <a16:creationId xmlns:a16="http://schemas.microsoft.com/office/drawing/2014/main" id="{010D0E42-6E3D-5214-0CCC-6AD4FB2D7CE8}"/>
              </a:ext>
            </a:extLst>
          </p:cNvPr>
          <p:cNvSpPr/>
          <p:nvPr/>
        </p:nvSpPr>
        <p:spPr>
          <a:xfrm rot="16200000">
            <a:off x="780097" y="5180384"/>
            <a:ext cx="216000" cy="180000"/>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blipFill dpi="0" rotWithShape="1">
            <a:blip r:embed="rId3">
              <a:extLst>
                <a:ext uri="{28A0092B-C50C-407E-A947-70E740481C1C}">
                  <a14:useLocalDpi xmlns:a14="http://schemas.microsoft.com/office/drawing/2010/main" val="0"/>
                </a:ext>
              </a:extLst>
            </a:blip>
            <a:srcRect/>
            <a:stretch>
              <a:fillRect/>
            </a:stretch>
          </a:blip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CuadroTexto 6">
            <a:extLst>
              <a:ext uri="{FF2B5EF4-FFF2-40B4-BE49-F238E27FC236}">
                <a16:creationId xmlns:a16="http://schemas.microsoft.com/office/drawing/2014/main" id="{33ACAC89-BE31-9A23-EDEA-4ADC80EC890A}"/>
              </a:ext>
            </a:extLst>
          </p:cNvPr>
          <p:cNvSpPr txBox="1"/>
          <p:nvPr/>
        </p:nvSpPr>
        <p:spPr>
          <a:xfrm>
            <a:off x="547807" y="5137956"/>
            <a:ext cx="5395709" cy="846386"/>
          </a:xfrm>
          <a:prstGeom prst="rect">
            <a:avLst/>
          </a:prstGeom>
          <a:noFill/>
        </p:spPr>
        <p:txBody>
          <a:bodyPr wrap="square">
            <a:spAutoFit/>
          </a:bodyPr>
          <a:lstStyle/>
          <a:p>
            <a:pPr lvl="1"/>
            <a:r>
              <a:rPr lang="es-MX" sz="1300" b="1" spc="-25" dirty="0">
                <a:latin typeface="Arial"/>
                <a:cs typeface="Arial"/>
              </a:rPr>
              <a:t>Fase 3: Comercialización y Venta del Proyecto:</a:t>
            </a:r>
          </a:p>
          <a:p>
            <a:pPr lvl="1" algn="just"/>
            <a:r>
              <a:rPr lang="es-MX" sz="1200" spc="-25" dirty="0">
                <a:latin typeface="Arial"/>
                <a:cs typeface="Arial"/>
              </a:rPr>
              <a:t>Con base en los resultados técnicos y económicos, se establecerá un precio de venta del proyecto (Reservas Probadas), orientado a capitalizar la inversión inicial a través de una venta total o parcial de la mina.</a:t>
            </a:r>
            <a:endParaRPr lang="es-MX" sz="600" spc="-25" dirty="0">
              <a:latin typeface="Arial"/>
              <a:cs typeface="Arial"/>
            </a:endParaRPr>
          </a:p>
        </p:txBody>
      </p:sp>
      <p:sp>
        <p:nvSpPr>
          <p:cNvPr id="21" name="CuadroTexto 20">
            <a:extLst>
              <a:ext uri="{FF2B5EF4-FFF2-40B4-BE49-F238E27FC236}">
                <a16:creationId xmlns:a16="http://schemas.microsoft.com/office/drawing/2014/main" id="{56F0D4EC-6EF3-27FC-910A-B4E9E7B18151}"/>
              </a:ext>
            </a:extLst>
          </p:cNvPr>
          <p:cNvSpPr txBox="1"/>
          <p:nvPr/>
        </p:nvSpPr>
        <p:spPr>
          <a:xfrm>
            <a:off x="554884" y="2293256"/>
            <a:ext cx="5395709" cy="292388"/>
          </a:xfrm>
          <a:prstGeom prst="rect">
            <a:avLst/>
          </a:prstGeom>
          <a:noFill/>
        </p:spPr>
        <p:txBody>
          <a:bodyPr wrap="square">
            <a:spAutoFit/>
          </a:bodyPr>
          <a:lstStyle/>
          <a:p>
            <a:r>
              <a:rPr lang="es-MX" sz="1300" spc="-25" dirty="0">
                <a:latin typeface="Arial"/>
                <a:cs typeface="Arial"/>
              </a:rPr>
              <a:t>Descripción del proyecto</a:t>
            </a:r>
          </a:p>
        </p:txBody>
      </p:sp>
      <p:sp>
        <p:nvSpPr>
          <p:cNvPr id="25" name="CuadroTexto 24">
            <a:extLst>
              <a:ext uri="{FF2B5EF4-FFF2-40B4-BE49-F238E27FC236}">
                <a16:creationId xmlns:a16="http://schemas.microsoft.com/office/drawing/2014/main" id="{8CFAD0AA-0222-C834-73B6-AD5609765BF5}"/>
              </a:ext>
            </a:extLst>
          </p:cNvPr>
          <p:cNvSpPr txBox="1"/>
          <p:nvPr/>
        </p:nvSpPr>
        <p:spPr>
          <a:xfrm>
            <a:off x="7316988" y="2757662"/>
            <a:ext cx="4702784" cy="3770263"/>
          </a:xfrm>
          <a:prstGeom prst="rect">
            <a:avLst/>
          </a:prstGeom>
          <a:noFill/>
        </p:spPr>
        <p:txBody>
          <a:bodyPr wrap="square">
            <a:spAutoFit/>
          </a:bodyPr>
          <a:lstStyle/>
          <a:p>
            <a:pPr marL="180000" lvl="1"/>
            <a:r>
              <a:rPr lang="es-MX" sz="1300" b="1" spc="-25" dirty="0">
                <a:solidFill>
                  <a:srgbClr val="FFC000"/>
                </a:solidFill>
                <a:latin typeface="Arial"/>
                <a:cs typeface="Arial"/>
              </a:rPr>
              <a:t>Incluye Fase 1 y 2</a:t>
            </a:r>
          </a:p>
          <a:p>
            <a:pPr marL="180000" lvl="1"/>
            <a:endParaRPr lang="es-MX" sz="1000" b="1" spc="-25" dirty="0">
              <a:solidFill>
                <a:srgbClr val="FFC000"/>
              </a:solidFill>
              <a:latin typeface="Arial"/>
              <a:cs typeface="Arial"/>
            </a:endParaRPr>
          </a:p>
          <a:p>
            <a:pPr marL="351450" lvl="1" indent="-171450">
              <a:buFont typeface="Wingdings" panose="05000000000000000000" pitchFamily="2" charset="2"/>
              <a:buChar char="§"/>
            </a:pPr>
            <a:r>
              <a:rPr lang="es-MX" sz="1100" spc="-25" dirty="0">
                <a:solidFill>
                  <a:srgbClr val="FFC000"/>
                </a:solidFill>
                <a:latin typeface="Arial"/>
                <a:cs typeface="Arial"/>
              </a:rPr>
              <a:t>Definición de puntos de extracción</a:t>
            </a:r>
          </a:p>
          <a:p>
            <a:pPr marL="351450" lvl="1" indent="-171450">
              <a:buFont typeface="Wingdings" panose="05000000000000000000" pitchFamily="2" charset="2"/>
              <a:buChar char="§"/>
            </a:pPr>
            <a:r>
              <a:rPr lang="es-MX" sz="1100" spc="-25" dirty="0">
                <a:solidFill>
                  <a:srgbClr val="FFC000"/>
                </a:solidFill>
                <a:latin typeface="Arial"/>
                <a:cs typeface="Arial"/>
              </a:rPr>
              <a:t>Estudio Satelital (SAR)</a:t>
            </a:r>
          </a:p>
          <a:p>
            <a:pPr marL="351450" lvl="1" indent="-171450">
              <a:buFont typeface="Wingdings" panose="05000000000000000000" pitchFamily="2" charset="2"/>
              <a:buChar char="§"/>
            </a:pPr>
            <a:r>
              <a:rPr lang="es-MX" sz="1100" spc="-25" dirty="0">
                <a:solidFill>
                  <a:srgbClr val="FFC000"/>
                </a:solidFill>
                <a:latin typeface="Arial"/>
                <a:cs typeface="Arial"/>
              </a:rPr>
              <a:t>Prospección geológica</a:t>
            </a:r>
          </a:p>
          <a:p>
            <a:pPr marL="351450" lvl="1" indent="-171450">
              <a:buFont typeface="Wingdings" panose="05000000000000000000" pitchFamily="2" charset="2"/>
              <a:buChar char="§"/>
            </a:pPr>
            <a:r>
              <a:rPr lang="es-MX" sz="1100" spc="-25" dirty="0">
                <a:solidFill>
                  <a:srgbClr val="FFC000"/>
                </a:solidFill>
                <a:latin typeface="Arial"/>
                <a:cs typeface="Arial"/>
              </a:rPr>
              <a:t>Estudio de Impacto Ambiental focalizado</a:t>
            </a:r>
          </a:p>
          <a:p>
            <a:pPr marL="351450" lvl="1" indent="-171450">
              <a:buFont typeface="Wingdings" panose="05000000000000000000" pitchFamily="2" charset="2"/>
              <a:buChar char="§"/>
            </a:pPr>
            <a:r>
              <a:rPr lang="es-MX" sz="1100" spc="-25" dirty="0">
                <a:solidFill>
                  <a:srgbClr val="FFC000"/>
                </a:solidFill>
                <a:latin typeface="Arial"/>
                <a:cs typeface="Arial"/>
              </a:rPr>
              <a:t>Gastos operativos y administrativos - Explotación </a:t>
            </a:r>
          </a:p>
          <a:p>
            <a:pPr marL="180000" lvl="1"/>
            <a:endParaRPr lang="es-MX" sz="1100" spc="-25" dirty="0">
              <a:solidFill>
                <a:srgbClr val="FFC000"/>
              </a:solidFill>
              <a:latin typeface="Arial"/>
              <a:cs typeface="Arial"/>
            </a:endParaRPr>
          </a:p>
          <a:p>
            <a:pPr marL="180000" lvl="1"/>
            <a:endParaRPr lang="es-MX" sz="1100" spc="-25" dirty="0">
              <a:solidFill>
                <a:srgbClr val="FFC000"/>
              </a:solidFill>
              <a:latin typeface="Arial"/>
              <a:cs typeface="Arial"/>
            </a:endParaRPr>
          </a:p>
          <a:p>
            <a:pPr marL="180000" lvl="1"/>
            <a:r>
              <a:rPr lang="es-MX" sz="1300" b="1" spc="-25" dirty="0">
                <a:solidFill>
                  <a:srgbClr val="FFC000"/>
                </a:solidFill>
                <a:latin typeface="Arial"/>
                <a:cs typeface="Arial"/>
              </a:rPr>
              <a:t>Fase 3 </a:t>
            </a:r>
          </a:p>
          <a:p>
            <a:pPr marL="180000" lvl="1"/>
            <a:endParaRPr lang="es-MX" sz="1000" b="1" spc="-25" dirty="0">
              <a:solidFill>
                <a:srgbClr val="FFC000"/>
              </a:solidFill>
              <a:latin typeface="Arial"/>
              <a:cs typeface="Arial"/>
            </a:endParaRPr>
          </a:p>
          <a:p>
            <a:pPr marL="180000" lvl="1"/>
            <a:r>
              <a:rPr lang="es-MX" sz="1100" spc="-25" dirty="0">
                <a:solidFill>
                  <a:srgbClr val="FFC000"/>
                </a:solidFill>
                <a:latin typeface="Arial"/>
                <a:cs typeface="Arial"/>
              </a:rPr>
              <a:t>Luego de realizar los estudios técnicos geológicos sobre el área a explotar y conocer las reservas y probabilidades de los distintos minerales en la zona (Oro, Plata, Cobre, tierras raras y otros)</a:t>
            </a:r>
          </a:p>
          <a:p>
            <a:pPr marL="180000" lvl="1"/>
            <a:endParaRPr lang="es-MX" sz="1100" spc="-25" dirty="0">
              <a:solidFill>
                <a:srgbClr val="FFC000"/>
              </a:solidFill>
              <a:latin typeface="Arial"/>
              <a:cs typeface="Arial"/>
            </a:endParaRPr>
          </a:p>
          <a:p>
            <a:pPr marL="180000" lvl="1"/>
            <a:r>
              <a:rPr lang="es-MX" sz="1100" spc="-25" dirty="0">
                <a:solidFill>
                  <a:srgbClr val="FFC000"/>
                </a:solidFill>
                <a:latin typeface="Arial"/>
                <a:cs typeface="Arial"/>
              </a:rPr>
              <a:t>Se reconocerá el15% de valor de la venta de la mina, al inversor.</a:t>
            </a:r>
          </a:p>
          <a:p>
            <a:pPr marL="180000" lvl="1"/>
            <a:r>
              <a:rPr lang="es-MX" sz="1100" spc="-25" dirty="0">
                <a:solidFill>
                  <a:srgbClr val="FFC000"/>
                </a:solidFill>
                <a:latin typeface="Arial"/>
                <a:cs typeface="Arial"/>
              </a:rPr>
              <a:t>Si el valor de la venta es de USD 200´000,000, el inversor recibiría el 15%, quiere decir USD 30´000,000</a:t>
            </a:r>
          </a:p>
          <a:p>
            <a:pPr marL="180000" lvl="1"/>
            <a:endParaRPr lang="es-MX" sz="1300" b="1" spc="-25" dirty="0">
              <a:solidFill>
                <a:srgbClr val="FFC000"/>
              </a:solidFill>
              <a:latin typeface="Arial"/>
              <a:cs typeface="Arial"/>
            </a:endParaRPr>
          </a:p>
          <a:p>
            <a:pPr marL="180000" lvl="1"/>
            <a:endParaRPr lang="es-MX" sz="1300" b="1" spc="-25" dirty="0">
              <a:solidFill>
                <a:srgbClr val="FFC000"/>
              </a:solidFill>
              <a:latin typeface="Arial"/>
              <a:cs typeface="Arial"/>
            </a:endParaRPr>
          </a:p>
          <a:p>
            <a:pPr marL="180000" lvl="1"/>
            <a:endParaRPr lang="es-MX" sz="1300" b="1" spc="-25" dirty="0">
              <a:solidFill>
                <a:srgbClr val="FFC000"/>
              </a:solidFill>
              <a:latin typeface="Arial"/>
              <a:cs typeface="Arial"/>
            </a:endParaRPr>
          </a:p>
        </p:txBody>
      </p:sp>
      <p:sp>
        <p:nvSpPr>
          <p:cNvPr id="30" name="Google Shape;7555;p53">
            <a:extLst>
              <a:ext uri="{FF2B5EF4-FFF2-40B4-BE49-F238E27FC236}">
                <a16:creationId xmlns:a16="http://schemas.microsoft.com/office/drawing/2014/main" id="{7FE2D0C1-2F00-6968-3BF6-74D49500F568}"/>
              </a:ext>
            </a:extLst>
          </p:cNvPr>
          <p:cNvSpPr/>
          <p:nvPr/>
        </p:nvSpPr>
        <p:spPr>
          <a:xfrm rot="16200000">
            <a:off x="1689772" y="4023639"/>
            <a:ext cx="216000" cy="180000"/>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blipFill dpi="0" rotWithShape="1">
            <a:blip r:embed="rId3">
              <a:extLst>
                <a:ext uri="{28A0092B-C50C-407E-A947-70E740481C1C}">
                  <a14:useLocalDpi xmlns:a14="http://schemas.microsoft.com/office/drawing/2010/main" val="0"/>
                </a:ext>
              </a:extLst>
            </a:blip>
            <a:srcRect/>
            <a:stretch>
              <a:fillRect/>
            </a:stretch>
          </a:blip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object 3">
            <a:hlinkClick r:id="rId6"/>
            <a:extLst>
              <a:ext uri="{FF2B5EF4-FFF2-40B4-BE49-F238E27FC236}">
                <a16:creationId xmlns:a16="http://schemas.microsoft.com/office/drawing/2014/main" id="{E581770F-F9B6-1741-33F6-E2FD38C17890}"/>
              </a:ext>
            </a:extLst>
          </p:cNvPr>
          <p:cNvSpPr txBox="1"/>
          <p:nvPr/>
        </p:nvSpPr>
        <p:spPr>
          <a:xfrm>
            <a:off x="7549190" y="1092335"/>
            <a:ext cx="4393487" cy="285877"/>
          </a:xfrm>
          <a:prstGeom prst="rect">
            <a:avLst/>
          </a:prstGeom>
        </p:spPr>
        <p:txBody>
          <a:bodyPr vert="horz" wrap="square" lIns="0" tIns="8792" rIns="0" bIns="0" rtlCol="0">
            <a:spAutoFit/>
          </a:bodyPr>
          <a:lstStyle/>
          <a:p>
            <a:pPr marL="8792">
              <a:spcBef>
                <a:spcPts val="69"/>
              </a:spcBef>
            </a:pPr>
            <a:r>
              <a:rPr lang="es-PE" b="1" spc="52" dirty="0">
                <a:solidFill>
                  <a:schemeClr val="bg1"/>
                </a:solidFill>
                <a:latin typeface="Arial Black" panose="020B0A04020102020204" pitchFamily="34" charset="0"/>
                <a:ea typeface="+mj-ea"/>
                <a:cs typeface="Arial"/>
              </a:rPr>
              <a:t>FINANCIACIÓN  </a:t>
            </a:r>
            <a:r>
              <a:rPr lang="es-PE" b="1" spc="52" dirty="0">
                <a:solidFill>
                  <a:srgbClr val="FFC000"/>
                </a:solidFill>
                <a:latin typeface="Arial Black" panose="020B0A04020102020204" pitchFamily="34" charset="0"/>
                <a:ea typeface="+mj-ea"/>
                <a:cs typeface="Arial"/>
              </a:rPr>
              <a:t>US$ 2´800,000</a:t>
            </a:r>
          </a:p>
        </p:txBody>
      </p:sp>
      <p:sp>
        <p:nvSpPr>
          <p:cNvPr id="40" name="CuadroTexto 39">
            <a:extLst>
              <a:ext uri="{FF2B5EF4-FFF2-40B4-BE49-F238E27FC236}">
                <a16:creationId xmlns:a16="http://schemas.microsoft.com/office/drawing/2014/main" id="{3DA1CDFF-9FFB-275D-76C3-5912AE1D3AD4}"/>
              </a:ext>
            </a:extLst>
          </p:cNvPr>
          <p:cNvSpPr txBox="1"/>
          <p:nvPr/>
        </p:nvSpPr>
        <p:spPr>
          <a:xfrm>
            <a:off x="6965950" y="1542714"/>
            <a:ext cx="5109638" cy="261610"/>
          </a:xfrm>
          <a:prstGeom prst="rect">
            <a:avLst/>
          </a:prstGeom>
          <a:noFill/>
        </p:spPr>
        <p:txBody>
          <a:bodyPr wrap="square">
            <a:spAutoFit/>
          </a:bodyPr>
          <a:lstStyle/>
          <a:p>
            <a:pPr marL="180000" lvl="1" algn="ctr"/>
            <a:r>
              <a:rPr lang="es-MX" sz="1100" b="1" spc="-25" dirty="0">
                <a:solidFill>
                  <a:srgbClr val="FFC000"/>
                </a:solidFill>
                <a:latin typeface="Arial"/>
                <a:cs typeface="Arial"/>
              </a:rPr>
              <a:t>(Dos millones, ochocientos mil y 00/100 de dólares americanos)</a:t>
            </a:r>
          </a:p>
        </p:txBody>
      </p:sp>
      <p:grpSp>
        <p:nvGrpSpPr>
          <p:cNvPr id="46" name="Grupo 45">
            <a:extLst>
              <a:ext uri="{FF2B5EF4-FFF2-40B4-BE49-F238E27FC236}">
                <a16:creationId xmlns:a16="http://schemas.microsoft.com/office/drawing/2014/main" id="{E5F8E4EE-F8A6-ECB8-C241-5BDD56788B2D}"/>
              </a:ext>
            </a:extLst>
          </p:cNvPr>
          <p:cNvGrpSpPr/>
          <p:nvPr/>
        </p:nvGrpSpPr>
        <p:grpSpPr>
          <a:xfrm>
            <a:off x="468041" y="3792202"/>
            <a:ext cx="1080000" cy="1080000"/>
            <a:chOff x="429940" y="3796965"/>
            <a:chExt cx="1080000" cy="1080000"/>
          </a:xfrm>
        </p:grpSpPr>
        <p:sp>
          <p:nvSpPr>
            <p:cNvPr id="43" name="Elipse 42">
              <a:extLst>
                <a:ext uri="{FF2B5EF4-FFF2-40B4-BE49-F238E27FC236}">
                  <a16:creationId xmlns:a16="http://schemas.microsoft.com/office/drawing/2014/main" id="{5797E091-253A-E9EF-4A2E-13C5471698CF}"/>
                </a:ext>
              </a:extLst>
            </p:cNvPr>
            <p:cNvSpPr/>
            <p:nvPr/>
          </p:nvSpPr>
          <p:spPr>
            <a:xfrm>
              <a:off x="429940" y="3796965"/>
              <a:ext cx="1080000" cy="1080000"/>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5" name="Elipse 44">
              <a:extLst>
                <a:ext uri="{FF2B5EF4-FFF2-40B4-BE49-F238E27FC236}">
                  <a16:creationId xmlns:a16="http://schemas.microsoft.com/office/drawing/2014/main" id="{161133E0-C956-7D58-DB38-27614CE2E25E}"/>
                </a:ext>
              </a:extLst>
            </p:cNvPr>
            <p:cNvSpPr/>
            <p:nvPr/>
          </p:nvSpPr>
          <p:spPr>
            <a:xfrm>
              <a:off x="488570" y="3851489"/>
              <a:ext cx="972000" cy="972000"/>
            </a:xfrm>
            <a:prstGeom prst="ellipse">
              <a:avLst/>
            </a:prstGeom>
            <a:blipFill dpi="0" rotWithShape="1">
              <a:blip r:embed="rId7">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
        <p:nvSpPr>
          <p:cNvPr id="47" name="Rectángulo 46">
            <a:extLst>
              <a:ext uri="{FF2B5EF4-FFF2-40B4-BE49-F238E27FC236}">
                <a16:creationId xmlns:a16="http://schemas.microsoft.com/office/drawing/2014/main" id="{4ECCEB3B-EB3E-F8DD-A45A-897FB56BB48E}"/>
              </a:ext>
            </a:extLst>
          </p:cNvPr>
          <p:cNvSpPr/>
          <p:nvPr/>
        </p:nvSpPr>
        <p:spPr>
          <a:xfrm>
            <a:off x="669016" y="1268800"/>
            <a:ext cx="6048000" cy="36000"/>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7ABF116A-9072-7547-2C14-7BDCB8C7A40D}"/>
              </a:ext>
            </a:extLst>
          </p:cNvPr>
          <p:cNvSpPr txBox="1"/>
          <p:nvPr/>
        </p:nvSpPr>
        <p:spPr>
          <a:xfrm>
            <a:off x="7316988" y="1823574"/>
            <a:ext cx="4702784" cy="661720"/>
          </a:xfrm>
          <a:prstGeom prst="rect">
            <a:avLst/>
          </a:prstGeom>
          <a:noFill/>
        </p:spPr>
        <p:txBody>
          <a:bodyPr wrap="square">
            <a:spAutoFit/>
          </a:bodyPr>
          <a:lstStyle/>
          <a:p>
            <a:pPr marL="180000" lvl="1"/>
            <a:r>
              <a:rPr lang="es-MX" sz="1200" spc="-25" dirty="0">
                <a:solidFill>
                  <a:srgbClr val="FFC000"/>
                </a:solidFill>
                <a:latin typeface="Arial"/>
                <a:cs typeface="Arial"/>
              </a:rPr>
              <a:t>Pago: 24 meses</a:t>
            </a:r>
          </a:p>
          <a:p>
            <a:pPr marL="180000" lvl="1"/>
            <a:r>
              <a:rPr lang="es-MX" sz="1200" spc="-25" dirty="0">
                <a:solidFill>
                  <a:srgbClr val="FFC000"/>
                </a:solidFill>
                <a:latin typeface="Arial"/>
                <a:cs typeface="Arial"/>
              </a:rPr>
              <a:t>Periodo gracia 6 meses</a:t>
            </a:r>
          </a:p>
          <a:p>
            <a:pPr marL="180000" lvl="1"/>
            <a:endParaRPr lang="es-MX" sz="1300" b="1" spc="-25" dirty="0">
              <a:solidFill>
                <a:srgbClr val="FFC000"/>
              </a:solidFill>
              <a:latin typeface="Arial"/>
              <a:cs typeface="Arial"/>
            </a:endParaRPr>
          </a:p>
        </p:txBody>
      </p:sp>
      <p:sp>
        <p:nvSpPr>
          <p:cNvPr id="14" name="CuadroTexto 13">
            <a:extLst>
              <a:ext uri="{FF2B5EF4-FFF2-40B4-BE49-F238E27FC236}">
                <a16:creationId xmlns:a16="http://schemas.microsoft.com/office/drawing/2014/main" id="{39DE8CBF-F8E7-4447-EE98-B741DD28002E}"/>
              </a:ext>
            </a:extLst>
          </p:cNvPr>
          <p:cNvSpPr txBox="1"/>
          <p:nvPr/>
        </p:nvSpPr>
        <p:spPr>
          <a:xfrm>
            <a:off x="1887773" y="6488668"/>
            <a:ext cx="6082890" cy="338554"/>
          </a:xfrm>
          <a:prstGeom prst="rect">
            <a:avLst/>
          </a:prstGeom>
          <a:noFill/>
        </p:spPr>
        <p:txBody>
          <a:bodyPr wrap="square" rtlCol="0">
            <a:spAutoFit/>
          </a:bodyPr>
          <a:lstStyle/>
          <a:p>
            <a:r>
              <a:rPr lang="es-MX" sz="1600" b="1" dirty="0">
                <a:solidFill>
                  <a:schemeClr val="bg1"/>
                </a:solidFill>
              </a:rPr>
              <a:t>Comisión: Mandate de compra e intermediarios 5%</a:t>
            </a:r>
            <a:endParaRPr lang="es-PE" sz="1600" b="1" dirty="0">
              <a:solidFill>
                <a:schemeClr val="bg1"/>
              </a:solidFill>
            </a:endParaRPr>
          </a:p>
        </p:txBody>
      </p:sp>
    </p:spTree>
    <p:extLst>
      <p:ext uri="{BB962C8B-B14F-4D97-AF65-F5344CB8AC3E}">
        <p14:creationId xmlns:p14="http://schemas.microsoft.com/office/powerpoint/2010/main" val="2299406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pic>
        <p:nvPicPr>
          <p:cNvPr id="7" name="Imagen 6">
            <a:extLst>
              <a:ext uri="{FF2B5EF4-FFF2-40B4-BE49-F238E27FC236}">
                <a16:creationId xmlns:a16="http://schemas.microsoft.com/office/drawing/2014/main" id="{05F95319-DAC5-31D9-E007-3F8043CE53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0291020" cy="6858000"/>
          </a:xfrm>
          <a:prstGeom prst="rect">
            <a:avLst/>
          </a:prstGeom>
        </p:spPr>
      </p:pic>
      <p:sp>
        <p:nvSpPr>
          <p:cNvPr id="463" name="Google Shape;463;p38"/>
          <p:cNvSpPr/>
          <p:nvPr/>
        </p:nvSpPr>
        <p:spPr>
          <a:xfrm flipH="1">
            <a:off x="5676224" y="-547676"/>
            <a:ext cx="8001200" cy="7667563"/>
          </a:xfrm>
          <a:prstGeom prst="hexagon">
            <a:avLst>
              <a:gd name="adj" fmla="val 25000"/>
              <a:gd name="vf" fmla="val 115470"/>
            </a:avLst>
          </a:prstGeom>
          <a:solidFill>
            <a:schemeClr val="lt1"/>
          </a:solidFill>
          <a:ln>
            <a:noFill/>
          </a:ln>
        </p:spPr>
        <p:txBody>
          <a:bodyPr spcFirstLastPara="1" wrap="square" lIns="121900" tIns="121900" rIns="121900" bIns="121900" anchor="ctr" anchorCtr="0">
            <a:noAutofit/>
          </a:bodyPr>
          <a:lstStyle/>
          <a:p>
            <a:endParaRPr sz="2400"/>
          </a:p>
        </p:txBody>
      </p:sp>
      <p:sp>
        <p:nvSpPr>
          <p:cNvPr id="464" name="Google Shape;464;p38"/>
          <p:cNvSpPr/>
          <p:nvPr/>
        </p:nvSpPr>
        <p:spPr>
          <a:xfrm flipH="1">
            <a:off x="9269195" y="-547675"/>
            <a:ext cx="8001200" cy="7667561"/>
          </a:xfrm>
          <a:prstGeom prst="hexagon">
            <a:avLst>
              <a:gd name="adj" fmla="val 25000"/>
              <a:gd name="vf" fmla="val 115470"/>
            </a:avLst>
          </a:prstGeom>
          <a:solidFill>
            <a:schemeClr val="tx1">
              <a:lumMod val="75000"/>
              <a:lumOff val="25000"/>
            </a:schemeClr>
          </a:solidFill>
          <a:ln>
            <a:noFill/>
          </a:ln>
        </p:spPr>
        <p:txBody>
          <a:bodyPr spcFirstLastPara="1" wrap="square" lIns="121900" tIns="121900" rIns="121900" bIns="121900" anchor="ctr" anchorCtr="0">
            <a:noAutofit/>
          </a:bodyPr>
          <a:lstStyle/>
          <a:p>
            <a:endParaRPr sz="2400"/>
          </a:p>
        </p:txBody>
      </p:sp>
      <p:sp>
        <p:nvSpPr>
          <p:cNvPr id="465" name="Google Shape;465;p38"/>
          <p:cNvSpPr txBox="1">
            <a:spLocks noGrp="1"/>
          </p:cNvSpPr>
          <p:nvPr>
            <p:ph type="ctrTitle"/>
          </p:nvPr>
        </p:nvSpPr>
        <p:spPr>
          <a:xfrm flipH="1">
            <a:off x="6612652" y="2202733"/>
            <a:ext cx="2308800" cy="863600"/>
          </a:xfrm>
          <a:prstGeom prst="rect">
            <a:avLst/>
          </a:prstGeom>
        </p:spPr>
        <p:txBody>
          <a:bodyPr spcFirstLastPara="1" vert="horz" wrap="square" lIns="121900" tIns="121900" rIns="121900" bIns="121900" rtlCol="0" anchor="b" anchorCtr="0">
            <a:noAutofit/>
          </a:bodyPr>
          <a:lstStyle/>
          <a:p>
            <a:r>
              <a:rPr lang="es" dirty="0">
                <a:solidFill>
                  <a:srgbClr val="073478"/>
                </a:solidFill>
              </a:rPr>
              <a:t>THANKS</a:t>
            </a:r>
            <a:endParaRPr dirty="0">
              <a:solidFill>
                <a:srgbClr val="073478"/>
              </a:solidFill>
            </a:endParaRPr>
          </a:p>
        </p:txBody>
      </p:sp>
      <p:sp>
        <p:nvSpPr>
          <p:cNvPr id="466" name="Google Shape;466;p38"/>
          <p:cNvSpPr txBox="1">
            <a:spLocks noGrp="1"/>
          </p:cNvSpPr>
          <p:nvPr>
            <p:ph type="ctrTitle" idx="2"/>
          </p:nvPr>
        </p:nvSpPr>
        <p:spPr>
          <a:xfrm>
            <a:off x="5783151" y="3140713"/>
            <a:ext cx="3169935" cy="1296524"/>
          </a:xfrm>
          <a:prstGeom prst="rect">
            <a:avLst/>
          </a:prstGeom>
        </p:spPr>
        <p:txBody>
          <a:bodyPr spcFirstLastPara="1" vert="horz" wrap="square" lIns="121900" tIns="121900" rIns="121900" bIns="121900" rtlCol="0" anchor="t" anchorCtr="0">
            <a:noAutofit/>
          </a:bodyPr>
          <a:lstStyle/>
          <a:p>
            <a:r>
              <a:rPr lang="es" b="1" dirty="0">
                <a:solidFill>
                  <a:srgbClr val="073478"/>
                </a:solidFill>
              </a:rPr>
              <a:t>Does anyone have any questions?</a:t>
            </a:r>
            <a:endParaRPr b="1" dirty="0">
              <a:solidFill>
                <a:srgbClr val="073478"/>
              </a:solidFill>
            </a:endParaRPr>
          </a:p>
          <a:p>
            <a:endParaRPr b="1" dirty="0">
              <a:solidFill>
                <a:srgbClr val="073478"/>
              </a:solidFill>
            </a:endParaRPr>
          </a:p>
          <a:p>
            <a:r>
              <a:rPr lang="es" b="1" dirty="0">
                <a:solidFill>
                  <a:srgbClr val="073478"/>
                </a:solidFill>
              </a:rPr>
              <a:t>miguel.ampuero@sondecapital.com</a:t>
            </a:r>
            <a:endParaRPr b="1" dirty="0">
              <a:solidFill>
                <a:srgbClr val="073478"/>
              </a:solidFill>
            </a:endParaRPr>
          </a:p>
          <a:p>
            <a:pPr lvl="0"/>
            <a:r>
              <a:rPr lang="es" b="1" dirty="0">
                <a:solidFill>
                  <a:srgbClr val="073478"/>
                </a:solidFill>
              </a:rPr>
              <a:t>+51  968899700</a:t>
            </a:r>
            <a:br>
              <a:rPr lang="es" b="1" dirty="0">
                <a:solidFill>
                  <a:srgbClr val="073478"/>
                </a:solidFill>
              </a:rPr>
            </a:br>
            <a:r>
              <a:rPr lang="es" b="1" dirty="0">
                <a:solidFill>
                  <a:srgbClr val="073478"/>
                </a:solidFill>
              </a:rPr>
              <a:t>+1 737 800 0036</a:t>
            </a:r>
            <a:br>
              <a:rPr lang="es-ES" dirty="0">
                <a:solidFill>
                  <a:srgbClr val="073478"/>
                </a:solidFill>
              </a:rPr>
            </a:br>
            <a:r>
              <a:rPr lang="es" dirty="0"/>
              <a:t>  </a:t>
            </a:r>
            <a:endParaRPr dirty="0"/>
          </a:p>
          <a:p>
            <a:endParaRPr dirty="0"/>
          </a:p>
          <a:p>
            <a:endParaRPr dirty="0"/>
          </a:p>
        </p:txBody>
      </p:sp>
      <p:grpSp>
        <p:nvGrpSpPr>
          <p:cNvPr id="467" name="Google Shape;467;p38"/>
          <p:cNvGrpSpPr/>
          <p:nvPr/>
        </p:nvGrpSpPr>
        <p:grpSpPr>
          <a:xfrm>
            <a:off x="8516331" y="4651323"/>
            <a:ext cx="263587" cy="263587"/>
            <a:chOff x="2179800" y="1227300"/>
            <a:chExt cx="3240825" cy="3240825"/>
          </a:xfrm>
        </p:grpSpPr>
        <p:sp>
          <p:nvSpPr>
            <p:cNvPr id="468" name="Google Shape;468;p38"/>
            <p:cNvSpPr/>
            <p:nvPr/>
          </p:nvSpPr>
          <p:spPr>
            <a:xfrm>
              <a:off x="2179800" y="1227300"/>
              <a:ext cx="3240825" cy="3240825"/>
            </a:xfrm>
            <a:custGeom>
              <a:avLst/>
              <a:gdLst/>
              <a:ahLst/>
              <a:cxnLst/>
              <a:rect l="l" t="t" r="r" b="b"/>
              <a:pathLst>
                <a:path w="129633" h="129633" extrusionOk="0">
                  <a:moveTo>
                    <a:pt x="102264" y="6590"/>
                  </a:moveTo>
                  <a:cubicBezTo>
                    <a:pt x="113714" y="6590"/>
                    <a:pt x="123043" y="15919"/>
                    <a:pt x="123043" y="27369"/>
                  </a:cubicBezTo>
                  <a:lnTo>
                    <a:pt x="123043" y="102264"/>
                  </a:lnTo>
                  <a:cubicBezTo>
                    <a:pt x="123043" y="113714"/>
                    <a:pt x="113714" y="123043"/>
                    <a:pt x="102264" y="123043"/>
                  </a:cubicBezTo>
                  <a:lnTo>
                    <a:pt x="27369" y="123043"/>
                  </a:lnTo>
                  <a:cubicBezTo>
                    <a:pt x="15919" y="123043"/>
                    <a:pt x="6590" y="113714"/>
                    <a:pt x="6590" y="102264"/>
                  </a:cubicBezTo>
                  <a:lnTo>
                    <a:pt x="6590" y="27369"/>
                  </a:lnTo>
                  <a:cubicBezTo>
                    <a:pt x="6590" y="15919"/>
                    <a:pt x="15919" y="6590"/>
                    <a:pt x="27369" y="6590"/>
                  </a:cubicBezTo>
                  <a:close/>
                  <a:moveTo>
                    <a:pt x="27369" y="1"/>
                  </a:moveTo>
                  <a:cubicBezTo>
                    <a:pt x="12266" y="1"/>
                    <a:pt x="1" y="12266"/>
                    <a:pt x="1" y="27369"/>
                  </a:cubicBezTo>
                  <a:lnTo>
                    <a:pt x="1" y="102264"/>
                  </a:lnTo>
                  <a:cubicBezTo>
                    <a:pt x="1" y="117367"/>
                    <a:pt x="12266" y="129632"/>
                    <a:pt x="27369" y="129632"/>
                  </a:cubicBezTo>
                  <a:lnTo>
                    <a:pt x="102264" y="129632"/>
                  </a:lnTo>
                  <a:cubicBezTo>
                    <a:pt x="117367" y="129632"/>
                    <a:pt x="129632" y="117367"/>
                    <a:pt x="129632" y="102264"/>
                  </a:cubicBezTo>
                  <a:lnTo>
                    <a:pt x="129632" y="27369"/>
                  </a:lnTo>
                  <a:cubicBezTo>
                    <a:pt x="129632" y="12266"/>
                    <a:pt x="117367" y="1"/>
                    <a:pt x="102264"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69" name="Google Shape;469;p38"/>
            <p:cNvSpPr/>
            <p:nvPr/>
          </p:nvSpPr>
          <p:spPr>
            <a:xfrm>
              <a:off x="2927400" y="1996225"/>
              <a:ext cx="1732350" cy="1703325"/>
            </a:xfrm>
            <a:custGeom>
              <a:avLst/>
              <a:gdLst/>
              <a:ahLst/>
              <a:cxnLst/>
              <a:rect l="l" t="t" r="r" b="b"/>
              <a:pathLst>
                <a:path w="69294" h="68133" extrusionOk="0">
                  <a:moveTo>
                    <a:pt x="34894" y="1"/>
                  </a:moveTo>
                  <a:cubicBezTo>
                    <a:pt x="15589" y="1"/>
                    <a:pt x="1" y="16160"/>
                    <a:pt x="890" y="35658"/>
                  </a:cubicBezTo>
                  <a:cubicBezTo>
                    <a:pt x="1673" y="53012"/>
                    <a:pt x="15634" y="67103"/>
                    <a:pt x="32988" y="68082"/>
                  </a:cubicBezTo>
                  <a:cubicBezTo>
                    <a:pt x="33613" y="68116"/>
                    <a:pt x="34235" y="68132"/>
                    <a:pt x="34853" y="68132"/>
                  </a:cubicBezTo>
                  <a:cubicBezTo>
                    <a:pt x="41464" y="68132"/>
                    <a:pt x="47666" y="66242"/>
                    <a:pt x="52886" y="62961"/>
                  </a:cubicBezTo>
                  <a:cubicBezTo>
                    <a:pt x="54680" y="61852"/>
                    <a:pt x="54974" y="59373"/>
                    <a:pt x="53473" y="57905"/>
                  </a:cubicBezTo>
                  <a:lnTo>
                    <a:pt x="53441" y="57839"/>
                  </a:lnTo>
                  <a:cubicBezTo>
                    <a:pt x="52800" y="57218"/>
                    <a:pt x="51975" y="56901"/>
                    <a:pt x="51141" y="56901"/>
                  </a:cubicBezTo>
                  <a:cubicBezTo>
                    <a:pt x="50530" y="56901"/>
                    <a:pt x="49915" y="57071"/>
                    <a:pt x="49363" y="57415"/>
                  </a:cubicBezTo>
                  <a:cubicBezTo>
                    <a:pt x="45177" y="60004"/>
                    <a:pt x="40241" y="61527"/>
                    <a:pt x="34951" y="61527"/>
                  </a:cubicBezTo>
                  <a:cubicBezTo>
                    <a:pt x="34841" y="61527"/>
                    <a:pt x="34730" y="61527"/>
                    <a:pt x="34619" y="61525"/>
                  </a:cubicBezTo>
                  <a:cubicBezTo>
                    <a:pt x="19353" y="61362"/>
                    <a:pt x="7023" y="48543"/>
                    <a:pt x="7447" y="33277"/>
                  </a:cubicBezTo>
                  <a:cubicBezTo>
                    <a:pt x="7854" y="18507"/>
                    <a:pt x="19989" y="6601"/>
                    <a:pt x="34867" y="6601"/>
                  </a:cubicBezTo>
                  <a:cubicBezTo>
                    <a:pt x="35465" y="6601"/>
                    <a:pt x="36068" y="6620"/>
                    <a:pt x="36674" y="6659"/>
                  </a:cubicBezTo>
                  <a:cubicBezTo>
                    <a:pt x="50179" y="7507"/>
                    <a:pt x="61172" y="18272"/>
                    <a:pt x="62281" y="31744"/>
                  </a:cubicBezTo>
                  <a:cubicBezTo>
                    <a:pt x="62737" y="37256"/>
                    <a:pt x="61563" y="42443"/>
                    <a:pt x="59182" y="46912"/>
                  </a:cubicBezTo>
                  <a:cubicBezTo>
                    <a:pt x="58497" y="48184"/>
                    <a:pt x="58725" y="49750"/>
                    <a:pt x="59736" y="50761"/>
                  </a:cubicBezTo>
                  <a:lnTo>
                    <a:pt x="59802" y="50826"/>
                  </a:lnTo>
                  <a:cubicBezTo>
                    <a:pt x="60446" y="51471"/>
                    <a:pt x="61281" y="51781"/>
                    <a:pt x="62107" y="51781"/>
                  </a:cubicBezTo>
                  <a:cubicBezTo>
                    <a:pt x="63246" y="51781"/>
                    <a:pt x="64369" y="51191"/>
                    <a:pt x="64955" y="50076"/>
                  </a:cubicBezTo>
                  <a:cubicBezTo>
                    <a:pt x="67793" y="44759"/>
                    <a:pt x="69294" y="38626"/>
                    <a:pt x="68935" y="32102"/>
                  </a:cubicBezTo>
                  <a:cubicBezTo>
                    <a:pt x="67956" y="14781"/>
                    <a:pt x="53832" y="820"/>
                    <a:pt x="36478" y="37"/>
                  </a:cubicBezTo>
                  <a:cubicBezTo>
                    <a:pt x="35948" y="13"/>
                    <a:pt x="35419" y="1"/>
                    <a:pt x="34894"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70" name="Google Shape;470;p38"/>
            <p:cNvSpPr/>
            <p:nvPr/>
          </p:nvSpPr>
          <p:spPr>
            <a:xfrm>
              <a:off x="4459125" y="1639125"/>
              <a:ext cx="439575" cy="439600"/>
            </a:xfrm>
            <a:custGeom>
              <a:avLst/>
              <a:gdLst/>
              <a:ahLst/>
              <a:cxnLst/>
              <a:rect l="l" t="t" r="r" b="b"/>
              <a:pathLst>
                <a:path w="17583" h="17584" extrusionOk="0">
                  <a:moveTo>
                    <a:pt x="8808" y="1"/>
                  </a:moveTo>
                  <a:cubicBezTo>
                    <a:pt x="3947" y="1"/>
                    <a:pt x="0" y="3948"/>
                    <a:pt x="0" y="8776"/>
                  </a:cubicBezTo>
                  <a:cubicBezTo>
                    <a:pt x="0" y="13636"/>
                    <a:pt x="3947" y="17583"/>
                    <a:pt x="8808" y="17583"/>
                  </a:cubicBezTo>
                  <a:cubicBezTo>
                    <a:pt x="13668" y="17583"/>
                    <a:pt x="17583" y="13636"/>
                    <a:pt x="17583" y="8776"/>
                  </a:cubicBezTo>
                  <a:cubicBezTo>
                    <a:pt x="17583" y="3948"/>
                    <a:pt x="13668" y="1"/>
                    <a:pt x="8808"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grpSp>
      <p:sp>
        <p:nvSpPr>
          <p:cNvPr id="471" name="Google Shape;471;p38"/>
          <p:cNvSpPr/>
          <p:nvPr/>
        </p:nvSpPr>
        <p:spPr>
          <a:xfrm>
            <a:off x="7435395" y="4651166"/>
            <a:ext cx="326739" cy="267879"/>
          </a:xfrm>
          <a:custGeom>
            <a:avLst/>
            <a:gdLst/>
            <a:ahLst/>
            <a:cxnLst/>
            <a:rect l="l" t="t" r="r" b="b"/>
            <a:pathLst>
              <a:path w="136711" h="112083" extrusionOk="0">
                <a:moveTo>
                  <a:pt x="88074" y="0"/>
                </a:moveTo>
                <a:cubicBezTo>
                  <a:pt x="70818" y="0"/>
                  <a:pt x="56628" y="13309"/>
                  <a:pt x="55193" y="30206"/>
                </a:cubicBezTo>
                <a:cubicBezTo>
                  <a:pt x="51638" y="29652"/>
                  <a:pt x="44657" y="27662"/>
                  <a:pt x="42993" y="27107"/>
                </a:cubicBezTo>
                <a:cubicBezTo>
                  <a:pt x="30924" y="22997"/>
                  <a:pt x="20062" y="15756"/>
                  <a:pt x="11580" y="6198"/>
                </a:cubicBezTo>
                <a:cubicBezTo>
                  <a:pt x="11059" y="5611"/>
                  <a:pt x="10406" y="5187"/>
                  <a:pt x="9656" y="5056"/>
                </a:cubicBezTo>
                <a:cubicBezTo>
                  <a:pt x="9456" y="5022"/>
                  <a:pt x="9257" y="5005"/>
                  <a:pt x="9061" y="5005"/>
                </a:cubicBezTo>
                <a:cubicBezTo>
                  <a:pt x="7787" y="5005"/>
                  <a:pt x="6637" y="5715"/>
                  <a:pt x="6100" y="6818"/>
                </a:cubicBezTo>
                <a:cubicBezTo>
                  <a:pt x="3980" y="11058"/>
                  <a:pt x="2904" y="15625"/>
                  <a:pt x="2904" y="20355"/>
                </a:cubicBezTo>
                <a:cubicBezTo>
                  <a:pt x="2904" y="26912"/>
                  <a:pt x="4959" y="33109"/>
                  <a:pt x="8677" y="38198"/>
                </a:cubicBezTo>
                <a:cubicBezTo>
                  <a:pt x="8461" y="38156"/>
                  <a:pt x="8244" y="38135"/>
                  <a:pt x="8028" y="38135"/>
                </a:cubicBezTo>
                <a:cubicBezTo>
                  <a:pt x="7072" y="38135"/>
                  <a:pt x="6146" y="38548"/>
                  <a:pt x="5481" y="39372"/>
                </a:cubicBezTo>
                <a:cubicBezTo>
                  <a:pt x="5024" y="39927"/>
                  <a:pt x="4796" y="40645"/>
                  <a:pt x="4763" y="41395"/>
                </a:cubicBezTo>
                <a:cubicBezTo>
                  <a:pt x="4730" y="41721"/>
                  <a:pt x="4730" y="42047"/>
                  <a:pt x="4730" y="42406"/>
                </a:cubicBezTo>
                <a:cubicBezTo>
                  <a:pt x="4730" y="51311"/>
                  <a:pt x="8808" y="59368"/>
                  <a:pt x="15397" y="64653"/>
                </a:cubicBezTo>
                <a:cubicBezTo>
                  <a:pt x="14940" y="64979"/>
                  <a:pt x="14549" y="65403"/>
                  <a:pt x="14288" y="65925"/>
                </a:cubicBezTo>
                <a:cubicBezTo>
                  <a:pt x="13896" y="66675"/>
                  <a:pt x="13864" y="67589"/>
                  <a:pt x="14125" y="68437"/>
                </a:cubicBezTo>
                <a:cubicBezTo>
                  <a:pt x="16995" y="77636"/>
                  <a:pt x="24139" y="84649"/>
                  <a:pt x="32979" y="87519"/>
                </a:cubicBezTo>
                <a:cubicBezTo>
                  <a:pt x="24955" y="92380"/>
                  <a:pt x="15691" y="95022"/>
                  <a:pt x="6198" y="95022"/>
                </a:cubicBezTo>
                <a:cubicBezTo>
                  <a:pt x="5383" y="95022"/>
                  <a:pt x="4502" y="94989"/>
                  <a:pt x="3654" y="94957"/>
                </a:cubicBezTo>
                <a:cubicBezTo>
                  <a:pt x="3609" y="94955"/>
                  <a:pt x="3563" y="94954"/>
                  <a:pt x="3518" y="94954"/>
                </a:cubicBezTo>
                <a:cubicBezTo>
                  <a:pt x="1911" y="94954"/>
                  <a:pt x="514" y="96079"/>
                  <a:pt x="229" y="97697"/>
                </a:cubicBezTo>
                <a:cubicBezTo>
                  <a:pt x="0" y="99067"/>
                  <a:pt x="718" y="100437"/>
                  <a:pt x="1892" y="101155"/>
                </a:cubicBezTo>
                <a:cubicBezTo>
                  <a:pt x="14027" y="108298"/>
                  <a:pt x="27890" y="112082"/>
                  <a:pt x="42015" y="112082"/>
                </a:cubicBezTo>
                <a:cubicBezTo>
                  <a:pt x="58879" y="112082"/>
                  <a:pt x="74928" y="106830"/>
                  <a:pt x="88335" y="97110"/>
                </a:cubicBezTo>
                <a:cubicBezTo>
                  <a:pt x="89999" y="95903"/>
                  <a:pt x="90162" y="93489"/>
                  <a:pt x="88726" y="92054"/>
                </a:cubicBezTo>
                <a:cubicBezTo>
                  <a:pt x="88081" y="91408"/>
                  <a:pt x="87237" y="91087"/>
                  <a:pt x="86387" y="91087"/>
                </a:cubicBezTo>
                <a:cubicBezTo>
                  <a:pt x="85691" y="91087"/>
                  <a:pt x="84990" y="91302"/>
                  <a:pt x="84388" y="91727"/>
                </a:cubicBezTo>
                <a:cubicBezTo>
                  <a:pt x="72482" y="100372"/>
                  <a:pt x="57803" y="105493"/>
                  <a:pt x="42015" y="105493"/>
                </a:cubicBezTo>
                <a:cubicBezTo>
                  <a:pt x="33175" y="105493"/>
                  <a:pt x="24400" y="103862"/>
                  <a:pt x="16212" y="100730"/>
                </a:cubicBezTo>
                <a:cubicBezTo>
                  <a:pt x="26129" y="99002"/>
                  <a:pt x="35491" y="94696"/>
                  <a:pt x="43287" y="88237"/>
                </a:cubicBezTo>
                <a:cubicBezTo>
                  <a:pt x="44233" y="87422"/>
                  <a:pt x="44755" y="86182"/>
                  <a:pt x="44494" y="85008"/>
                </a:cubicBezTo>
                <a:cubicBezTo>
                  <a:pt x="44200" y="83475"/>
                  <a:pt x="42896" y="82365"/>
                  <a:pt x="41362" y="82333"/>
                </a:cubicBezTo>
                <a:cubicBezTo>
                  <a:pt x="33338" y="82105"/>
                  <a:pt x="26162" y="77668"/>
                  <a:pt x="22312" y="70883"/>
                </a:cubicBezTo>
                <a:cubicBezTo>
                  <a:pt x="24139" y="70785"/>
                  <a:pt x="25998" y="70557"/>
                  <a:pt x="27793" y="70133"/>
                </a:cubicBezTo>
                <a:cubicBezTo>
                  <a:pt x="29163" y="69839"/>
                  <a:pt x="30304" y="68730"/>
                  <a:pt x="30467" y="67328"/>
                </a:cubicBezTo>
                <a:cubicBezTo>
                  <a:pt x="30696" y="65631"/>
                  <a:pt x="29619" y="64098"/>
                  <a:pt x="27988" y="63707"/>
                </a:cubicBezTo>
                <a:cubicBezTo>
                  <a:pt x="19377" y="61587"/>
                  <a:pt x="13048" y="54573"/>
                  <a:pt x="11613" y="46060"/>
                </a:cubicBezTo>
                <a:lnTo>
                  <a:pt x="11613" y="46060"/>
                </a:lnTo>
                <a:cubicBezTo>
                  <a:pt x="13903" y="46588"/>
                  <a:pt x="16246" y="46852"/>
                  <a:pt x="18594" y="46852"/>
                </a:cubicBezTo>
                <a:cubicBezTo>
                  <a:pt x="18855" y="46852"/>
                  <a:pt x="19116" y="46849"/>
                  <a:pt x="19377" y="46842"/>
                </a:cubicBezTo>
                <a:cubicBezTo>
                  <a:pt x="21008" y="46777"/>
                  <a:pt x="22378" y="45570"/>
                  <a:pt x="22573" y="43907"/>
                </a:cubicBezTo>
                <a:cubicBezTo>
                  <a:pt x="22736" y="42602"/>
                  <a:pt x="22019" y="41330"/>
                  <a:pt x="20910" y="40645"/>
                </a:cubicBezTo>
                <a:cubicBezTo>
                  <a:pt x="13766" y="36306"/>
                  <a:pt x="9493" y="28706"/>
                  <a:pt x="9493" y="20355"/>
                </a:cubicBezTo>
                <a:cubicBezTo>
                  <a:pt x="9493" y="18300"/>
                  <a:pt x="9754" y="16310"/>
                  <a:pt x="10243" y="14386"/>
                </a:cubicBezTo>
                <a:cubicBezTo>
                  <a:pt x="18887" y="22932"/>
                  <a:pt x="29391" y="29423"/>
                  <a:pt x="40873" y="33338"/>
                </a:cubicBezTo>
                <a:cubicBezTo>
                  <a:pt x="40971" y="33370"/>
                  <a:pt x="52323" y="36926"/>
                  <a:pt x="56628" y="36926"/>
                </a:cubicBezTo>
                <a:cubicBezTo>
                  <a:pt x="56922" y="36926"/>
                  <a:pt x="58259" y="36991"/>
                  <a:pt x="58259" y="36991"/>
                </a:cubicBezTo>
                <a:cubicBezTo>
                  <a:pt x="58309" y="36994"/>
                  <a:pt x="58358" y="36995"/>
                  <a:pt x="58407" y="36995"/>
                </a:cubicBezTo>
                <a:cubicBezTo>
                  <a:pt x="59725" y="36995"/>
                  <a:pt x="60986" y="36159"/>
                  <a:pt x="61489" y="34838"/>
                </a:cubicBezTo>
                <a:cubicBezTo>
                  <a:pt x="61652" y="34414"/>
                  <a:pt x="61685" y="33990"/>
                  <a:pt x="61685" y="33566"/>
                </a:cubicBezTo>
                <a:cubicBezTo>
                  <a:pt x="61685" y="33370"/>
                  <a:pt x="61685" y="33175"/>
                  <a:pt x="61685" y="33012"/>
                </a:cubicBezTo>
                <a:cubicBezTo>
                  <a:pt x="61685" y="18431"/>
                  <a:pt x="73526" y="6590"/>
                  <a:pt x="88074" y="6590"/>
                </a:cubicBezTo>
                <a:cubicBezTo>
                  <a:pt x="95218" y="6590"/>
                  <a:pt x="101905" y="9395"/>
                  <a:pt x="106896" y="14484"/>
                </a:cubicBezTo>
                <a:cubicBezTo>
                  <a:pt x="107532" y="15092"/>
                  <a:pt x="108356" y="15466"/>
                  <a:pt x="109209" y="15466"/>
                </a:cubicBezTo>
                <a:cubicBezTo>
                  <a:pt x="109361" y="15466"/>
                  <a:pt x="109515" y="15454"/>
                  <a:pt x="109668" y="15430"/>
                </a:cubicBezTo>
                <a:cubicBezTo>
                  <a:pt x="113028" y="14973"/>
                  <a:pt x="116290" y="14190"/>
                  <a:pt x="119487" y="13146"/>
                </a:cubicBezTo>
                <a:lnTo>
                  <a:pt x="119487" y="13146"/>
                </a:lnTo>
                <a:cubicBezTo>
                  <a:pt x="117791" y="15005"/>
                  <a:pt x="115801" y="16571"/>
                  <a:pt x="113550" y="17843"/>
                </a:cubicBezTo>
                <a:cubicBezTo>
                  <a:pt x="112050" y="18659"/>
                  <a:pt x="111430" y="20518"/>
                  <a:pt x="112115" y="22084"/>
                </a:cubicBezTo>
                <a:lnTo>
                  <a:pt x="112180" y="22182"/>
                </a:lnTo>
                <a:cubicBezTo>
                  <a:pt x="112725" y="23362"/>
                  <a:pt x="113914" y="24121"/>
                  <a:pt x="115203" y="24121"/>
                </a:cubicBezTo>
                <a:cubicBezTo>
                  <a:pt x="115304" y="24121"/>
                  <a:pt x="115405" y="24116"/>
                  <a:pt x="115507" y="24106"/>
                </a:cubicBezTo>
                <a:cubicBezTo>
                  <a:pt x="118215" y="23845"/>
                  <a:pt x="120922" y="23389"/>
                  <a:pt x="123564" y="22769"/>
                </a:cubicBezTo>
                <a:lnTo>
                  <a:pt x="123564" y="22769"/>
                </a:lnTo>
                <a:cubicBezTo>
                  <a:pt x="121216" y="25183"/>
                  <a:pt x="118639" y="27368"/>
                  <a:pt x="115866" y="29326"/>
                </a:cubicBezTo>
                <a:cubicBezTo>
                  <a:pt x="114953" y="29945"/>
                  <a:pt x="114431" y="30989"/>
                  <a:pt x="114464" y="32098"/>
                </a:cubicBezTo>
                <a:lnTo>
                  <a:pt x="114464" y="32327"/>
                </a:lnTo>
                <a:cubicBezTo>
                  <a:pt x="114496" y="32555"/>
                  <a:pt x="114496" y="32783"/>
                  <a:pt x="114496" y="33012"/>
                </a:cubicBezTo>
                <a:lnTo>
                  <a:pt x="114496" y="33305"/>
                </a:lnTo>
                <a:cubicBezTo>
                  <a:pt x="114431" y="51768"/>
                  <a:pt x="107385" y="68633"/>
                  <a:pt x="95870" y="81420"/>
                </a:cubicBezTo>
                <a:cubicBezTo>
                  <a:pt x="94696" y="82724"/>
                  <a:pt x="94761" y="84714"/>
                  <a:pt x="96001" y="85954"/>
                </a:cubicBezTo>
                <a:cubicBezTo>
                  <a:pt x="96662" y="86615"/>
                  <a:pt x="97513" y="86942"/>
                  <a:pt x="98363" y="86942"/>
                </a:cubicBezTo>
                <a:cubicBezTo>
                  <a:pt x="99275" y="86942"/>
                  <a:pt x="100186" y="86566"/>
                  <a:pt x="100861" y="85823"/>
                </a:cubicBezTo>
                <a:cubicBezTo>
                  <a:pt x="113778" y="71470"/>
                  <a:pt x="120922" y="53138"/>
                  <a:pt x="121085" y="33664"/>
                </a:cubicBezTo>
                <a:cubicBezTo>
                  <a:pt x="126957" y="29293"/>
                  <a:pt x="131915" y="23943"/>
                  <a:pt x="135862" y="17746"/>
                </a:cubicBezTo>
                <a:cubicBezTo>
                  <a:pt x="136710" y="16375"/>
                  <a:pt x="136482" y="14549"/>
                  <a:pt x="135210" y="13472"/>
                </a:cubicBezTo>
                <a:cubicBezTo>
                  <a:pt x="134613" y="12955"/>
                  <a:pt x="133845" y="12692"/>
                  <a:pt x="133064" y="12692"/>
                </a:cubicBezTo>
                <a:cubicBezTo>
                  <a:pt x="132565" y="12692"/>
                  <a:pt x="132059" y="12799"/>
                  <a:pt x="131589" y="13016"/>
                </a:cubicBezTo>
                <a:cubicBezTo>
                  <a:pt x="129893" y="13799"/>
                  <a:pt x="128164" y="14516"/>
                  <a:pt x="126370" y="15103"/>
                </a:cubicBezTo>
                <a:cubicBezTo>
                  <a:pt x="128131" y="12689"/>
                  <a:pt x="129534" y="10047"/>
                  <a:pt x="130545" y="7177"/>
                </a:cubicBezTo>
                <a:cubicBezTo>
                  <a:pt x="130937" y="6002"/>
                  <a:pt x="130741" y="4665"/>
                  <a:pt x="129893" y="3752"/>
                </a:cubicBezTo>
                <a:cubicBezTo>
                  <a:pt x="129252" y="3030"/>
                  <a:pt x="128364" y="2666"/>
                  <a:pt x="127473" y="2666"/>
                </a:cubicBezTo>
                <a:cubicBezTo>
                  <a:pt x="126913" y="2666"/>
                  <a:pt x="126351" y="2810"/>
                  <a:pt x="125848" y="3099"/>
                </a:cubicBezTo>
                <a:cubicBezTo>
                  <a:pt x="121020" y="5839"/>
                  <a:pt x="115834" y="7699"/>
                  <a:pt x="110353" y="8645"/>
                </a:cubicBezTo>
                <a:cubicBezTo>
                  <a:pt x="104253" y="3067"/>
                  <a:pt x="96425" y="0"/>
                  <a:pt x="88074"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grpSp>
        <p:nvGrpSpPr>
          <p:cNvPr id="472" name="Google Shape;472;p38"/>
          <p:cNvGrpSpPr/>
          <p:nvPr/>
        </p:nvGrpSpPr>
        <p:grpSpPr>
          <a:xfrm>
            <a:off x="7987696" y="4651890"/>
            <a:ext cx="299376" cy="267879"/>
            <a:chOff x="2289075" y="1336575"/>
            <a:chExt cx="3131550" cy="2802075"/>
          </a:xfrm>
        </p:grpSpPr>
        <p:sp>
          <p:nvSpPr>
            <p:cNvPr id="473" name="Google Shape;473;p38"/>
            <p:cNvSpPr/>
            <p:nvPr/>
          </p:nvSpPr>
          <p:spPr>
            <a:xfrm>
              <a:off x="2399175" y="2325775"/>
              <a:ext cx="714400" cy="1812875"/>
            </a:xfrm>
            <a:custGeom>
              <a:avLst/>
              <a:gdLst/>
              <a:ahLst/>
              <a:cxnLst/>
              <a:rect l="l" t="t" r="r" b="b"/>
              <a:pathLst>
                <a:path w="28576" h="72515" extrusionOk="0">
                  <a:moveTo>
                    <a:pt x="21986" y="6590"/>
                  </a:moveTo>
                  <a:lnTo>
                    <a:pt x="21986" y="65926"/>
                  </a:lnTo>
                  <a:lnTo>
                    <a:pt x="6590" y="65926"/>
                  </a:lnTo>
                  <a:lnTo>
                    <a:pt x="6590" y="6590"/>
                  </a:lnTo>
                  <a:close/>
                  <a:moveTo>
                    <a:pt x="3295" y="1"/>
                  </a:moveTo>
                  <a:cubicBezTo>
                    <a:pt x="1469" y="1"/>
                    <a:pt x="1" y="1469"/>
                    <a:pt x="1" y="3295"/>
                  </a:cubicBezTo>
                  <a:lnTo>
                    <a:pt x="1" y="69220"/>
                  </a:lnTo>
                  <a:cubicBezTo>
                    <a:pt x="1" y="71047"/>
                    <a:pt x="1469" y="72515"/>
                    <a:pt x="3295" y="72515"/>
                  </a:cubicBezTo>
                  <a:lnTo>
                    <a:pt x="25281" y="72515"/>
                  </a:lnTo>
                  <a:cubicBezTo>
                    <a:pt x="27108" y="72515"/>
                    <a:pt x="28576" y="71047"/>
                    <a:pt x="28576" y="69220"/>
                  </a:cubicBezTo>
                  <a:lnTo>
                    <a:pt x="28576" y="3295"/>
                  </a:lnTo>
                  <a:cubicBezTo>
                    <a:pt x="28576" y="1469"/>
                    <a:pt x="27108" y="1"/>
                    <a:pt x="25281"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74" name="Google Shape;474;p38"/>
            <p:cNvSpPr/>
            <p:nvPr/>
          </p:nvSpPr>
          <p:spPr>
            <a:xfrm>
              <a:off x="2289075" y="1336575"/>
              <a:ext cx="824500" cy="824500"/>
            </a:xfrm>
            <a:custGeom>
              <a:avLst/>
              <a:gdLst/>
              <a:ahLst/>
              <a:cxnLst/>
              <a:rect l="l" t="t" r="r" b="b"/>
              <a:pathLst>
                <a:path w="32980" h="32980" extrusionOk="0">
                  <a:moveTo>
                    <a:pt x="16507" y="6590"/>
                  </a:moveTo>
                  <a:cubicBezTo>
                    <a:pt x="21954" y="6590"/>
                    <a:pt x="26390" y="11026"/>
                    <a:pt x="26390" y="16507"/>
                  </a:cubicBezTo>
                  <a:cubicBezTo>
                    <a:pt x="26390" y="21954"/>
                    <a:pt x="21954" y="26390"/>
                    <a:pt x="16507" y="26390"/>
                  </a:cubicBezTo>
                  <a:cubicBezTo>
                    <a:pt x="11026" y="26390"/>
                    <a:pt x="6590" y="21954"/>
                    <a:pt x="6590" y="16507"/>
                  </a:cubicBezTo>
                  <a:cubicBezTo>
                    <a:pt x="6590" y="11026"/>
                    <a:pt x="11026" y="6590"/>
                    <a:pt x="16507" y="6590"/>
                  </a:cubicBezTo>
                  <a:close/>
                  <a:moveTo>
                    <a:pt x="16507" y="1"/>
                  </a:moveTo>
                  <a:cubicBezTo>
                    <a:pt x="7406" y="1"/>
                    <a:pt x="1" y="7406"/>
                    <a:pt x="1" y="16507"/>
                  </a:cubicBezTo>
                  <a:cubicBezTo>
                    <a:pt x="1" y="25575"/>
                    <a:pt x="7406" y="32980"/>
                    <a:pt x="16507" y="32980"/>
                  </a:cubicBezTo>
                  <a:cubicBezTo>
                    <a:pt x="25575" y="32980"/>
                    <a:pt x="32980" y="25575"/>
                    <a:pt x="32980" y="16507"/>
                  </a:cubicBezTo>
                  <a:cubicBezTo>
                    <a:pt x="32980" y="7406"/>
                    <a:pt x="25575" y="1"/>
                    <a:pt x="16507"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75" name="Google Shape;475;p38"/>
            <p:cNvSpPr/>
            <p:nvPr/>
          </p:nvSpPr>
          <p:spPr>
            <a:xfrm>
              <a:off x="3497650" y="2325775"/>
              <a:ext cx="1922975" cy="1812875"/>
            </a:xfrm>
            <a:custGeom>
              <a:avLst/>
              <a:gdLst/>
              <a:ahLst/>
              <a:cxnLst/>
              <a:rect l="l" t="t" r="r" b="b"/>
              <a:pathLst>
                <a:path w="76919" h="72515" extrusionOk="0">
                  <a:moveTo>
                    <a:pt x="3328" y="1"/>
                  </a:moveTo>
                  <a:cubicBezTo>
                    <a:pt x="1501" y="1"/>
                    <a:pt x="1" y="1469"/>
                    <a:pt x="1" y="3295"/>
                  </a:cubicBezTo>
                  <a:lnTo>
                    <a:pt x="1" y="69220"/>
                  </a:lnTo>
                  <a:cubicBezTo>
                    <a:pt x="1" y="71047"/>
                    <a:pt x="1501" y="72515"/>
                    <a:pt x="3328" y="72515"/>
                  </a:cubicBezTo>
                  <a:lnTo>
                    <a:pt x="25281" y="72515"/>
                  </a:lnTo>
                  <a:cubicBezTo>
                    <a:pt x="27108" y="72515"/>
                    <a:pt x="28576" y="71047"/>
                    <a:pt x="28576" y="69220"/>
                  </a:cubicBezTo>
                  <a:lnTo>
                    <a:pt x="28576" y="45571"/>
                  </a:lnTo>
                  <a:cubicBezTo>
                    <a:pt x="28576" y="37807"/>
                    <a:pt x="30304" y="28576"/>
                    <a:pt x="38459" y="28576"/>
                  </a:cubicBezTo>
                  <a:cubicBezTo>
                    <a:pt x="44559" y="28576"/>
                    <a:pt x="47071" y="33730"/>
                    <a:pt x="47952" y="39536"/>
                  </a:cubicBezTo>
                  <a:cubicBezTo>
                    <a:pt x="48180" y="41135"/>
                    <a:pt x="49583" y="42309"/>
                    <a:pt x="51181" y="42309"/>
                  </a:cubicBezTo>
                  <a:cubicBezTo>
                    <a:pt x="53236" y="42309"/>
                    <a:pt x="54769" y="40515"/>
                    <a:pt x="54443" y="38492"/>
                  </a:cubicBezTo>
                  <a:cubicBezTo>
                    <a:pt x="52780" y="27891"/>
                    <a:pt x="47169" y="21987"/>
                    <a:pt x="38459" y="21987"/>
                  </a:cubicBezTo>
                  <a:cubicBezTo>
                    <a:pt x="27988" y="21987"/>
                    <a:pt x="21986" y="30566"/>
                    <a:pt x="21986" y="45571"/>
                  </a:cubicBezTo>
                  <a:lnTo>
                    <a:pt x="21986" y="65926"/>
                  </a:lnTo>
                  <a:lnTo>
                    <a:pt x="6622" y="65926"/>
                  </a:lnTo>
                  <a:lnTo>
                    <a:pt x="6622" y="6590"/>
                  </a:lnTo>
                  <a:lnTo>
                    <a:pt x="17583" y="6590"/>
                  </a:lnTo>
                  <a:lnTo>
                    <a:pt x="17583" y="10929"/>
                  </a:lnTo>
                  <a:cubicBezTo>
                    <a:pt x="17583" y="11940"/>
                    <a:pt x="18007" y="12951"/>
                    <a:pt x="18822" y="13571"/>
                  </a:cubicBezTo>
                  <a:cubicBezTo>
                    <a:pt x="19442" y="14076"/>
                    <a:pt x="20176" y="14321"/>
                    <a:pt x="20906" y="14321"/>
                  </a:cubicBezTo>
                  <a:cubicBezTo>
                    <a:pt x="21636" y="14321"/>
                    <a:pt x="22362" y="14076"/>
                    <a:pt x="22965" y="13603"/>
                  </a:cubicBezTo>
                  <a:cubicBezTo>
                    <a:pt x="28673" y="9004"/>
                    <a:pt x="35556" y="6590"/>
                    <a:pt x="42863" y="6590"/>
                  </a:cubicBezTo>
                  <a:cubicBezTo>
                    <a:pt x="61848" y="6590"/>
                    <a:pt x="70329" y="22606"/>
                    <a:pt x="70329" y="38460"/>
                  </a:cubicBezTo>
                  <a:lnTo>
                    <a:pt x="70329" y="65926"/>
                  </a:lnTo>
                  <a:lnTo>
                    <a:pt x="54965" y="65926"/>
                  </a:lnTo>
                  <a:lnTo>
                    <a:pt x="54965" y="55063"/>
                  </a:lnTo>
                  <a:cubicBezTo>
                    <a:pt x="54965" y="53269"/>
                    <a:pt x="53497" y="51801"/>
                    <a:pt x="51670" y="51801"/>
                  </a:cubicBezTo>
                  <a:lnTo>
                    <a:pt x="51638" y="51801"/>
                  </a:lnTo>
                  <a:cubicBezTo>
                    <a:pt x="49844" y="51801"/>
                    <a:pt x="48376" y="53269"/>
                    <a:pt x="48376" y="55063"/>
                  </a:cubicBezTo>
                  <a:lnTo>
                    <a:pt x="48376" y="69220"/>
                  </a:lnTo>
                  <a:cubicBezTo>
                    <a:pt x="48376" y="71047"/>
                    <a:pt x="49844" y="72515"/>
                    <a:pt x="51670" y="72515"/>
                  </a:cubicBezTo>
                  <a:lnTo>
                    <a:pt x="73624" y="72515"/>
                  </a:lnTo>
                  <a:cubicBezTo>
                    <a:pt x="75450" y="72515"/>
                    <a:pt x="76918" y="71047"/>
                    <a:pt x="76918" y="69220"/>
                  </a:cubicBezTo>
                  <a:lnTo>
                    <a:pt x="76918" y="38460"/>
                  </a:lnTo>
                  <a:cubicBezTo>
                    <a:pt x="76918" y="15821"/>
                    <a:pt x="62924" y="1"/>
                    <a:pt x="42863" y="1"/>
                  </a:cubicBezTo>
                  <a:cubicBezTo>
                    <a:pt x="36307" y="1"/>
                    <a:pt x="29880" y="1697"/>
                    <a:pt x="24205" y="4861"/>
                  </a:cubicBezTo>
                  <a:lnTo>
                    <a:pt x="24205" y="3295"/>
                  </a:lnTo>
                  <a:cubicBezTo>
                    <a:pt x="24205" y="1469"/>
                    <a:pt x="22704" y="1"/>
                    <a:pt x="20877"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grpSp>
      <p:pic>
        <p:nvPicPr>
          <p:cNvPr id="3" name="Imagen 2">
            <a:extLst>
              <a:ext uri="{FF2B5EF4-FFF2-40B4-BE49-F238E27FC236}">
                <a16:creationId xmlns:a16="http://schemas.microsoft.com/office/drawing/2014/main" id="{C1736B46-5F0E-044F-B15B-C1EB615580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68118" y="695862"/>
            <a:ext cx="2514951" cy="714475"/>
          </a:xfrm>
          <a:prstGeom prst="rect">
            <a:avLst/>
          </a:prstGeom>
        </p:spPr>
      </p:pic>
    </p:spTree>
  </p:cSld>
  <p:clrMapOvr>
    <a:masterClrMapping/>
  </p:clrMapOvr>
</p:sld>
</file>

<file path=ppt/theme/theme1.xml><?xml version="1.0" encoding="utf-8"?>
<a:theme xmlns:a="http://schemas.openxmlformats.org/drawingml/2006/main" name="Tema de la oficina">
  <a:themeElements>
    <a:clrScheme name="Custom 30">
      <a:dk1>
        <a:sysClr val="windowText" lastClr="000000"/>
      </a:dk1>
      <a:lt1>
        <a:sysClr val="window" lastClr="FFFFFF"/>
      </a:lt1>
      <a:dk2>
        <a:srgbClr val="00292E"/>
      </a:dk2>
      <a:lt2>
        <a:srgbClr val="64B2C1"/>
      </a:lt2>
      <a:accent1>
        <a:srgbClr val="F0CDA1"/>
      </a:accent1>
      <a:accent2>
        <a:srgbClr val="107082"/>
      </a:accent2>
      <a:accent3>
        <a:srgbClr val="054854"/>
      </a:accent3>
      <a:accent4>
        <a:srgbClr val="00AEEF"/>
      </a:accent4>
      <a:accent5>
        <a:srgbClr val="F99927"/>
      </a:accent5>
      <a:accent6>
        <a:srgbClr val="EC7216"/>
      </a:accent6>
      <a:hlink>
        <a:srgbClr val="000000"/>
      </a:hlink>
      <a:folHlink>
        <a:srgbClr val="000000"/>
      </a:folHlink>
    </a:clrScheme>
    <a:fontScheme name="Custom 24">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35087709_TF45022061.potx" id="{CF8F7AC9-B209-40DA-B01B-03DE7680F64C}" vid="{9567545B-13CB-48C1-B233-082DD3A40F67}"/>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426FE2C-7640-4BF0-9D68-FDFD4151FD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C118CE8-9293-4220-BA3B-5D353B13ABC9}">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A2DDA16B-F3AC-4A5B-9F5F-6F5A8F47A9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Plan de marketing de servicios profesionales</Template>
  <TotalTime>4781</TotalTime>
  <Words>782</Words>
  <Application>Microsoft Office PowerPoint</Application>
  <PresentationFormat>Panorámica</PresentationFormat>
  <Paragraphs>84</Paragraphs>
  <Slides>5</Slides>
  <Notes>5</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5</vt:i4>
      </vt:variant>
    </vt:vector>
  </HeadingPairs>
  <TitlesOfParts>
    <vt:vector size="16" baseType="lpstr">
      <vt:lpstr>Arial</vt:lpstr>
      <vt:lpstr>Arial </vt:lpstr>
      <vt:lpstr>Arial Black</vt:lpstr>
      <vt:lpstr>Assistant ExtraLight</vt:lpstr>
      <vt:lpstr>Berlin Sans FB Demi</vt:lpstr>
      <vt:lpstr>Calibri</vt:lpstr>
      <vt:lpstr>Century Gothic</vt:lpstr>
      <vt:lpstr>Gill Sans MT</vt:lpstr>
      <vt:lpstr>Nunito Sans ExtraBold</vt:lpstr>
      <vt:lpstr>Wingdings</vt:lpstr>
      <vt:lpstr>Tema de la oficina</vt:lpstr>
      <vt:lpstr>Presentación de PowerPoint</vt:lpstr>
      <vt:lpstr>PROYECTO MINERO ZARA</vt:lpstr>
      <vt:lpstr>PROPUESTA ECONOMICA</vt:lpstr>
      <vt:lpstr>PROPUESTA ECONOMICA</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SERVICIOS GENERALES PLAN DE MARKETING</dc:title>
  <dc:creator>Usuario</dc:creator>
  <cp:lastModifiedBy>Miguel Ampuero</cp:lastModifiedBy>
  <cp:revision>51</cp:revision>
  <dcterms:created xsi:type="dcterms:W3CDTF">2024-07-17T18:22:35Z</dcterms:created>
  <dcterms:modified xsi:type="dcterms:W3CDTF">2025-05-26T20:26:08Z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